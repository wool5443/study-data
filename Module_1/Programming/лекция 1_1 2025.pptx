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90" r:id="rId3"/>
    <p:sldId id="284" r:id="rId4"/>
    <p:sldId id="282" r:id="rId5"/>
    <p:sldId id="283" r:id="rId6"/>
    <p:sldId id="288" r:id="rId7"/>
    <p:sldId id="289" r:id="rId8"/>
    <p:sldId id="291" r:id="rId9"/>
    <p:sldId id="260" r:id="rId10"/>
    <p:sldId id="285" r:id="rId11"/>
    <p:sldId id="262" r:id="rId12"/>
    <p:sldId id="263" r:id="rId13"/>
    <p:sldId id="264" r:id="rId14"/>
    <p:sldId id="265" r:id="rId15"/>
    <p:sldId id="266" r:id="rId16"/>
    <p:sldId id="268" r:id="rId17"/>
  </p:sldIdLst>
  <p:sldSz cx="9144000" cy="6858000" type="screen4x3"/>
  <p:notesSz cx="6797675" cy="9926638"/>
  <p:defaultTextStyle>
    <a:lvl1pPr marL="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1pPr>
    <a:lvl2pPr marL="4572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2pPr>
    <a:lvl3pPr marL="9144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3pPr>
    <a:lvl4pPr marL="13716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4pPr>
    <a:lvl5pPr marL="18288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5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6" autoAdjust="0"/>
    <p:restoredTop sz="76682" autoAdjust="0"/>
  </p:normalViewPr>
  <p:slideViewPr>
    <p:cSldViewPr>
      <p:cViewPr varScale="1">
        <p:scale>
          <a:sx n="88" d="100"/>
          <a:sy n="88" d="100"/>
        </p:scale>
        <p:origin x="262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Верхний колонтитул 10487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endParaRPr lang="zh-CN" altLang="en-US" sz="1200"/>
          </a:p>
        </p:txBody>
      </p:sp>
      <p:sp>
        <p:nvSpPr>
          <p:cNvPr id="1048699" name="Дата 1048750"/>
          <p:cNvSpPr>
            <a:spLocks noGrp="1"/>
          </p:cNvSpPr>
          <p:nvPr>
            <p:ph type="dt" sz="quarter" idx="1"/>
          </p:nvPr>
        </p:nvSpPr>
        <p:spPr>
          <a:xfrm>
            <a:off x="3849687" y="0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/>
            <a:fld id="{566ABCEB-ACFC-4714-9973-3DA970169C29}" type="datetime1">
              <a:rPr lang="zh-CN" altLang="en-US" sz="1200"/>
              <a:pPr lvl="0" algn="r"/>
              <a:t>2025/9/11</a:t>
            </a:fld>
            <a:endParaRPr lang="zh-CN" altLang="en-US" sz="1200"/>
          </a:p>
        </p:txBody>
      </p:sp>
      <p:sp>
        <p:nvSpPr>
          <p:cNvPr id="1048700" name="Нижний колонтитул 1048751"/>
          <p:cNvSpPr>
            <a:spLocks noGrp="1"/>
          </p:cNvSpPr>
          <p:nvPr>
            <p:ph type="ftr" sz="quarter" idx="2"/>
          </p:nvPr>
        </p:nvSpPr>
        <p:spPr>
          <a:xfrm>
            <a:off x="0" y="9428162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zh-CN" altLang="en-US" sz="1200"/>
          </a:p>
        </p:txBody>
      </p:sp>
      <p:sp>
        <p:nvSpPr>
          <p:cNvPr id="1048701" name="Номер слайда 1048752"/>
          <p:cNvSpPr>
            <a:spLocks noGrp="1"/>
          </p:cNvSpPr>
          <p:nvPr>
            <p:ph type="sldNum" sz="quarter" idx="3"/>
          </p:nvPr>
        </p:nvSpPr>
        <p:spPr>
          <a:xfrm>
            <a:off x="3849687" y="9428162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566ABCEB-ACFC-4714-9973-3DA970169C29}" type="slidenum">
              <a:rPr lang="zh-CN" altLang="en-US" sz="1200"/>
              <a:pPr lvl="0" algn="r"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111891854"/>
      </p:ext>
    </p:extLst>
  </p:cSld>
  <p:clrMap bg1="dk1" tx1="dk1" bg2="dk1" tx2="dk1" accent1="dk1" accent2="dk1" accent3="dk1" accent4="dk1" accent5="dk1" accent6="dk1" hlink="dk1" folHlink="dk1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Верхний колонтитул 104874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latinLnBrk="1" hangingPunct="1"/>
            <a:endParaRPr lang="zh-CN" altLang="en-US" sz="1200"/>
          </a:p>
        </p:txBody>
      </p:sp>
      <p:sp>
        <p:nvSpPr>
          <p:cNvPr id="1048693" name="Дата 1048744"/>
          <p:cNvSpPr>
            <a:spLocks noGrp="1"/>
          </p:cNvSpPr>
          <p:nvPr>
            <p:ph type="dt" idx="1"/>
          </p:nvPr>
        </p:nvSpPr>
        <p:spPr>
          <a:xfrm>
            <a:off x="3849687" y="0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 eaLnBrk="1" latinLnBrk="1" hangingPunct="1"/>
            <a:fld id="{566ABCEB-ACFC-4714-9973-3DA970169C29}" type="datetime1">
              <a:rPr lang="zh-CN" altLang="en-US" sz="1200"/>
              <a:pPr lvl="0" algn="r" eaLnBrk="1" latinLnBrk="1" hangingPunct="1"/>
              <a:t>2025/9/11</a:t>
            </a:fld>
            <a:endParaRPr lang="zh-CN" altLang="en-US" sz="1200"/>
          </a:p>
        </p:txBody>
      </p:sp>
      <p:sp>
        <p:nvSpPr>
          <p:cNvPr id="1048694" name="Образ слайда 1048745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7"/>
            <a:ext cx="4962525" cy="3722687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695" name="Заметки 1048746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Образец текста</a:t>
            </a:r>
          </a:p>
          <a:p>
            <a:pPr lvl="1"/>
            <a:r>
              <a:rPr lang="zh-CN" altLang="en-US"/>
              <a:t>Второй уровень</a:t>
            </a:r>
          </a:p>
          <a:p>
            <a:pPr lvl="2"/>
            <a:r>
              <a:rPr lang="zh-CN" altLang="en-US"/>
              <a:t>Третий уровень</a:t>
            </a:r>
          </a:p>
          <a:p>
            <a:pPr lvl="3"/>
            <a:r>
              <a:rPr lang="zh-CN" altLang="en-US"/>
              <a:t>Четвертый уровень</a:t>
            </a:r>
          </a:p>
          <a:p>
            <a:pPr lvl="4"/>
            <a:r>
              <a:rPr lang="zh-CN" altLang="en-US"/>
              <a:t>Пятый уровень</a:t>
            </a:r>
          </a:p>
        </p:txBody>
      </p:sp>
      <p:sp>
        <p:nvSpPr>
          <p:cNvPr id="1048696" name="Нижний колонтитул 1048747"/>
          <p:cNvSpPr>
            <a:spLocks noGrp="1"/>
          </p:cNvSpPr>
          <p:nvPr>
            <p:ph type="ftr" sz="quarter" idx="4"/>
          </p:nvPr>
        </p:nvSpPr>
        <p:spPr>
          <a:xfrm>
            <a:off x="0" y="9428162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eaLnBrk="1" latinLnBrk="1" hangingPunct="1"/>
            <a:endParaRPr lang="zh-CN" altLang="en-US" sz="1200"/>
          </a:p>
        </p:txBody>
      </p:sp>
      <p:sp>
        <p:nvSpPr>
          <p:cNvPr id="1048697" name="Номер слайда 1048748"/>
          <p:cNvSpPr>
            <a:spLocks noGrp="1"/>
          </p:cNvSpPr>
          <p:nvPr>
            <p:ph type="sldNum" sz="quarter" idx="5"/>
          </p:nvPr>
        </p:nvSpPr>
        <p:spPr>
          <a:xfrm>
            <a:off x="3849687" y="9428162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latinLnBrk="1" hangingPunct="1"/>
            <a:fld id="{566ABCEB-ACFC-4714-9973-3DA970169C29}" type="slidenum">
              <a:rPr lang="zh-CN" altLang="en-US" sz="1200"/>
              <a:pPr lvl="0" algn="r" eaLnBrk="1" latinLnBrk="1" hangingPunct="1"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74269628"/>
      </p:ext>
    </p:extLst>
  </p:cSld>
  <p:clrMap bg1="dk1" tx1="dk1" bg2="dk1" tx2="dk1" accent1="dk1" accent2="dk1" accent3="dk1" accent4="dk1" accent5="dk1" accent6="dk1" hlink="dk1" folHlink="dk1"/>
  <p:notesStyle>
    <a:lvl1pPr marL="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1pPr>
    <a:lvl2pPr marL="4572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2pPr>
    <a:lvl3pPr marL="9144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3pPr>
    <a:lvl4pPr marL="13716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4pPr>
    <a:lvl5pPr marL="18288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Образ слайда 1048585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612" name="Заметки 1048586"/>
          <p:cNvSpPr>
            <a:spLocks noGrp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1. Телефоны и почты старост</a:t>
            </a:r>
          </a:p>
          <a:p>
            <a:pPr lvl="0"/>
            <a:endParaRPr lang="zh-CN" altLang="en-US" dirty="0"/>
          </a:p>
        </p:txBody>
      </p:sp>
      <p:sp>
        <p:nvSpPr>
          <p:cNvPr id="1048613" name="TextBox 1048587"/>
          <p:cNvSpPr txBox="1"/>
          <p:nvPr/>
        </p:nvSpPr>
        <p:spPr>
          <a:xfrm>
            <a:off x="3849687" y="9428162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latinLnBrk="1" hangingPunct="1"/>
            <a:fld id="{566ABCEB-ACFC-4714-9973-3DA970169C29}" type="slidenum">
              <a:rPr lang="zh-CN" altLang="en-US" sz="1200"/>
              <a:pPr lvl="0" algn="r" eaLnBrk="1" latinLnBrk="1" hangingPunct="1"/>
              <a:t>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794859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048624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Открыть журнал и рассказать про </a:t>
            </a:r>
            <a:r>
              <a:rPr lang="ru-RU"/>
              <a:t>него  подробно</a:t>
            </a:r>
            <a:endParaRPr lang="ru-RU" dirty="0"/>
          </a:p>
        </p:txBody>
      </p:sp>
      <p:sp>
        <p:nvSpPr>
          <p:cNvPr id="1048625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eaLnBrk="1" latinLnBrk="1" hangingPunct="1"/>
            <a:fld id="{566ABCEB-ACFC-4714-9973-3DA970169C29}" type="slidenum">
              <a:rPr lang="zh-CN" altLang="en-US" sz="1200" smtClean="0"/>
              <a:pPr lvl="0" algn="r" eaLnBrk="1" latinLnBrk="1" hangingPunct="1"/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670524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eaLnBrk="1" latinLnBrk="1" hangingPunct="1"/>
            <a:fld id="{566ABCEB-ACFC-4714-9973-3DA970169C29}" type="slidenum">
              <a:rPr lang="zh-CN" altLang="en-US" sz="1200" smtClean="0"/>
              <a:pPr lvl="0" algn="r" eaLnBrk="1" latinLnBrk="1" hangingPunct="1"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93168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048590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48591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eaLnBrk="1" latinLnBrk="1" hangingPunct="1"/>
            <a:fld id="{566ABCEB-ACFC-4714-9973-3DA970169C29}" type="slidenum">
              <a:rPr lang="zh-CN" altLang="en-US" sz="1200" smtClean="0"/>
              <a:pPr lvl="0" algn="r" eaLnBrk="1" latinLnBrk="1" hangingPunct="1"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26440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1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048616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17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18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59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94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595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596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77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78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79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80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45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46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47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48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49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51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52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3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54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5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56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57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59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60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61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68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69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87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88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89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90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91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71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2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73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74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75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82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83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84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85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6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64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665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666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582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83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84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585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  <p:sp>
        <p:nvSpPr>
          <p:cNvPr id="1048586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Заголовок 1048575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Образец заголовка</a:t>
            </a:r>
          </a:p>
        </p:txBody>
      </p:sp>
      <p:sp>
        <p:nvSpPr>
          <p:cNvPr id="1048577" name="Текст 104857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Образец текста</a:t>
            </a:r>
          </a:p>
          <a:p>
            <a:pPr lvl="1"/>
            <a:r>
              <a:rPr lang="zh-CN" altLang="en-US"/>
              <a:t>Второй уровень</a:t>
            </a:r>
          </a:p>
          <a:p>
            <a:pPr lvl="2"/>
            <a:r>
              <a:rPr lang="zh-CN" altLang="en-US"/>
              <a:t>Третий уровень</a:t>
            </a:r>
          </a:p>
          <a:p>
            <a:pPr lvl="3"/>
            <a:r>
              <a:rPr lang="zh-CN" altLang="en-US"/>
              <a:t>Четвертый уровень</a:t>
            </a:r>
          </a:p>
          <a:p>
            <a:pPr lvl="4"/>
            <a:r>
              <a:rPr lang="zh-CN" altLang="en-US"/>
              <a:t>Пятый уровень</a:t>
            </a:r>
          </a:p>
        </p:txBody>
      </p:sp>
      <p:sp>
        <p:nvSpPr>
          <p:cNvPr id="1048578" name="Дата 104857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/>
            <a:endParaRPr lang="zh-CN" altLang="en-US" sz="1400"/>
          </a:p>
        </p:txBody>
      </p:sp>
      <p:sp>
        <p:nvSpPr>
          <p:cNvPr id="1048579" name="Нижний колонтитул 104857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ctr" eaLnBrk="1" latinLnBrk="1" hangingPunct="1"/>
            <a:endParaRPr lang="zh-CN" altLang="en-US" sz="1400"/>
          </a:p>
        </p:txBody>
      </p:sp>
      <p:sp>
        <p:nvSpPr>
          <p:cNvPr id="1048580" name="Номер слайда 104857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/>
              <a:pPr lvl="0" algn="r" eaLnBrk="1" latinLnBrk="1" hangingPunct="1"/>
              <a:t>‹#›</a:t>
            </a:fld>
            <a:endParaRPr lang="zh-CN" altLang="en-US"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Объект 1048580"/>
          <p:cNvSpPr>
            <a:spLocks noGrp="1"/>
          </p:cNvSpPr>
          <p:nvPr>
            <p:ph idx="1"/>
          </p:nvPr>
        </p:nvSpPr>
        <p:spPr>
          <a:xfrm>
            <a:off x="457200" y="476250"/>
            <a:ext cx="8435280" cy="56499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0" indent="0" algn="ctr">
              <a:buNone/>
            </a:pPr>
            <a:r>
              <a:rPr lang="ru-RU" b="1" dirty="0"/>
              <a:t>Алгоритмизация и программирование </a:t>
            </a:r>
            <a:endParaRPr lang="en-US" b="1" dirty="0"/>
          </a:p>
          <a:p>
            <a:pPr marL="0" indent="0" algn="ctr">
              <a:buNone/>
            </a:pPr>
            <a:r>
              <a:rPr lang="ru-RU" b="1" dirty="0"/>
              <a:t>Ерохина Елена Альфредовна </a:t>
            </a:r>
            <a:endParaRPr lang="en-US" b="1" dirty="0"/>
          </a:p>
          <a:p>
            <a:pPr marL="0" indent="0" algn="ctr">
              <a:buNone/>
            </a:pPr>
            <a:endParaRPr lang="ru-RU" b="1" dirty="0"/>
          </a:p>
          <a:p>
            <a:pPr marL="0" lvl="0" indent="0" algn="ctr">
              <a:buNone/>
            </a:pPr>
            <a:r>
              <a:rPr lang="zh-CN" altLang="en-US" sz="2800" b="1" dirty="0"/>
              <a:t>Контрольные точки</a:t>
            </a:r>
            <a:endParaRPr lang="ru-RU" altLang="zh-CN" sz="2800" b="1" dirty="0"/>
          </a:p>
          <a:p>
            <a:pPr marL="0" lvl="0" indent="0">
              <a:buFontTx/>
              <a:buNone/>
            </a:pPr>
            <a:r>
              <a:rPr lang="zh-CN" altLang="en-US" sz="2800" b="1" dirty="0"/>
              <a:t>1 модуль:</a:t>
            </a:r>
            <a:endParaRPr lang="en-US" altLang="zh-CN" sz="2800" b="1" dirty="0"/>
          </a:p>
          <a:p>
            <a:pPr marL="0" lvl="0" indent="0">
              <a:buFontTx/>
              <a:buNone/>
            </a:pPr>
            <a:endParaRPr lang="en-US" altLang="zh-CN" sz="2800" b="1" dirty="0"/>
          </a:p>
          <a:p>
            <a:pPr marL="0" lvl="0" indent="0">
              <a:buFontTx/>
              <a:buNone/>
            </a:pPr>
            <a:endParaRPr lang="en-US" altLang="zh-CN" sz="2800" b="1" dirty="0"/>
          </a:p>
          <a:p>
            <a:pPr marL="0" lvl="0" indent="0">
              <a:buFontTx/>
              <a:buNone/>
            </a:pPr>
            <a:r>
              <a:rPr lang="zh-CN" altLang="en-US" sz="2800" b="1" dirty="0"/>
              <a:t>2 модуль: </a:t>
            </a:r>
          </a:p>
        </p:txBody>
      </p:sp>
      <p:sp>
        <p:nvSpPr>
          <p:cNvPr id="1048609" name="TextBox 1048581"/>
          <p:cNvSpPr txBox="1"/>
          <p:nvPr/>
        </p:nvSpPr>
        <p:spPr>
          <a:xfrm>
            <a:off x="2458446" y="3214833"/>
            <a:ext cx="5903912" cy="120032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342900" lvl="0" indent="-342900">
              <a:buAutoNum type="arabicPeriod"/>
            </a:pPr>
            <a:r>
              <a:rPr lang="en-US" altLang="zh-CN" dirty="0"/>
              <a:t>10</a:t>
            </a:r>
            <a:r>
              <a:rPr lang="ru-RU" altLang="zh-CN" dirty="0"/>
              <a:t> лекций (проверочные работы или тесты)</a:t>
            </a:r>
          </a:p>
          <a:p>
            <a:pPr marL="342900" lvl="0" indent="-342900">
              <a:buAutoNum type="arabicPeriod"/>
            </a:pPr>
            <a:r>
              <a:rPr lang="zh-CN" altLang="en-US" dirty="0"/>
              <a:t>2 лабораторные работы </a:t>
            </a:r>
          </a:p>
          <a:p>
            <a:pPr marL="342900" lvl="0" indent="-342900">
              <a:buAutoNum type="arabicPeriod"/>
            </a:pPr>
            <a:r>
              <a:rPr lang="en-US" altLang="zh-CN" dirty="0"/>
              <a:t>4</a:t>
            </a:r>
            <a:r>
              <a:rPr lang="zh-CN" altLang="en-US" dirty="0"/>
              <a:t> семинара (проверочные работы или тесты)</a:t>
            </a:r>
          </a:p>
          <a:p>
            <a:pPr marL="342900" lvl="0" indent="-342900"/>
            <a:endParaRPr lang="zh-CN" altLang="en-US" dirty="0"/>
          </a:p>
        </p:txBody>
      </p:sp>
      <p:sp>
        <p:nvSpPr>
          <p:cNvPr id="1048610" name="TextBox 1048582"/>
          <p:cNvSpPr txBox="1"/>
          <p:nvPr/>
        </p:nvSpPr>
        <p:spPr>
          <a:xfrm>
            <a:off x="2458446" y="4447705"/>
            <a:ext cx="5759450" cy="147732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342900" lvl="0" indent="-342900">
              <a:buAutoNum type="arabicPeriod"/>
            </a:pPr>
            <a:endParaRPr lang="ru-RU" altLang="zh-CN" dirty="0"/>
          </a:p>
          <a:p>
            <a:pPr marL="342900" indent="-342900">
              <a:buFontTx/>
              <a:buAutoNum type="arabicPeriod"/>
            </a:pPr>
            <a:r>
              <a:rPr lang="ru-RU" altLang="zh-CN"/>
              <a:t>12 </a:t>
            </a:r>
            <a:r>
              <a:rPr lang="ru-RU" altLang="zh-CN" dirty="0"/>
              <a:t>лекций (проверочные работы)</a:t>
            </a:r>
          </a:p>
          <a:p>
            <a:pPr marL="342900" lvl="0" indent="-342900">
              <a:buAutoNum type="arabicPeriod"/>
            </a:pPr>
            <a:r>
              <a:rPr lang="zh-CN" altLang="en-US" dirty="0"/>
              <a:t>3 лабораторные работы </a:t>
            </a:r>
          </a:p>
          <a:p>
            <a:pPr marL="342900" lvl="0" indent="-342900">
              <a:buAutoNum type="arabicPeriod"/>
            </a:pPr>
            <a:r>
              <a:rPr lang="ru-RU" altLang="zh-CN" dirty="0"/>
              <a:t>7 </a:t>
            </a:r>
            <a:r>
              <a:rPr lang="zh-CN" altLang="en-US" dirty="0"/>
              <a:t> семинар</a:t>
            </a:r>
            <a:r>
              <a:rPr lang="ru-RU" altLang="zh-CN" dirty="0" err="1"/>
              <a:t>ов</a:t>
            </a:r>
            <a:r>
              <a:rPr lang="zh-CN" altLang="en-US" dirty="0"/>
              <a:t> (проверочные работы или тесты)</a:t>
            </a:r>
          </a:p>
          <a:p>
            <a:pPr marL="342900" lvl="0" indent="-342900">
              <a:buAutoNum type="arabicPeriod"/>
            </a:pPr>
            <a:r>
              <a:rPr lang="zh-CN" altLang="en-US" dirty="0"/>
              <a:t>Контрольная работа</a:t>
            </a:r>
            <a:r>
              <a:rPr lang="ru-RU" altLang="zh-CN" dirty="0"/>
              <a:t> (на семинаре)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48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486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486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486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48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9" grpId="0"/>
      <p:bldP spid="10486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34083"/>
          </a:xfrm>
        </p:spPr>
        <p:txBody>
          <a:bodyPr/>
          <a:lstStyle/>
          <a:p>
            <a:r>
              <a:rPr lang="ru-RU" b="1" dirty="0"/>
              <a:t>Где найти материалы курса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1781" y="1052736"/>
            <a:ext cx="8229600" cy="5256584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Материалы курса размещаются в </a:t>
            </a:r>
            <a:r>
              <a:rPr lang="en-US" sz="2800" dirty="0"/>
              <a:t>Smart </a:t>
            </a:r>
            <a:r>
              <a:rPr lang="en-US" sz="2800" dirty="0" err="1"/>
              <a:t>Lms</a:t>
            </a:r>
            <a:r>
              <a:rPr lang="ru-RU" sz="2800" dirty="0"/>
              <a:t>. Учебный офис автоматически регистрирует студентов на курс.</a:t>
            </a:r>
          </a:p>
          <a:p>
            <a:pPr marL="0" indent="0">
              <a:buNone/>
            </a:pPr>
            <a:r>
              <a:rPr lang="ru-RU" sz="2800" dirty="0"/>
              <a:t>При возникновении вопросов по регистрации обращайтесь в учебный офис к менеджеру образовательной программы.</a:t>
            </a:r>
          </a:p>
          <a:p>
            <a:pPr marL="0" indent="0">
              <a:buNone/>
            </a:pPr>
            <a:r>
              <a:rPr lang="ru-RU" sz="2800" dirty="0"/>
              <a:t>ИВТ – </a:t>
            </a:r>
            <a:r>
              <a:rPr lang="ru-RU" sz="2800" dirty="0" err="1"/>
              <a:t>Лалош</a:t>
            </a:r>
            <a:r>
              <a:rPr lang="ru-RU" sz="2800" dirty="0"/>
              <a:t> Наталья Васильевна</a:t>
            </a:r>
          </a:p>
          <a:p>
            <a:pPr marL="0" indent="0">
              <a:buNone/>
            </a:pPr>
            <a:r>
              <a:rPr lang="ru-RU" sz="2800" dirty="0"/>
              <a:t>ИТСС – Николаева Мария Сергеевна</a:t>
            </a:r>
          </a:p>
        </p:txBody>
      </p:sp>
    </p:spTree>
    <p:extLst>
      <p:ext uri="{BB962C8B-B14F-4D97-AF65-F5344CB8AC3E}">
        <p14:creationId xmlns:p14="http://schemas.microsoft.com/office/powerpoint/2010/main" val="138530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Подзаголовок 1048588"/>
          <p:cNvSpPr>
            <a:spLocks noGrp="1"/>
          </p:cNvSpPr>
          <p:nvPr>
            <p:ph type="subTitle" idx="1"/>
          </p:nvPr>
        </p:nvSpPr>
        <p:spPr>
          <a:xfrm>
            <a:off x="395537" y="123825"/>
            <a:ext cx="8748464" cy="200903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algn="ctr">
              <a:buFontTx/>
              <a:buNone/>
              <a:defRPr sz="3200">
                <a:solidFill>
                  <a:schemeClr val="dk1"/>
                </a:solidFill>
              </a:defRPr>
            </a:lvl1pPr>
            <a:lvl2pPr marL="457200" algn="ctr">
              <a:buFontTx/>
              <a:buNone/>
            </a:lvl2pPr>
            <a:lvl3pPr marL="914400" algn="ctr">
              <a:buFontTx/>
              <a:buNone/>
            </a:lvl3pPr>
            <a:lvl4pPr marL="1371600" algn="ctr">
              <a:buFontTx/>
              <a:buNone/>
            </a:lvl4pPr>
            <a:lvl5pPr marL="1828800" algn="ctr">
              <a:buFontTx/>
              <a:buNone/>
            </a:lvl5pPr>
          </a:lstStyle>
          <a:p>
            <a:pPr algn="l"/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Оценка за текущий контроль в 1 и 2 модуле учитывает результаты студента следующим образом.</a:t>
            </a:r>
          </a:p>
          <a:p>
            <a:pPr lvl="0" algn="l"/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Модуль 1.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текущая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лекция+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семинар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лаб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. работа+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ответы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у доски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l"/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Модуль 2.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текущая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лекция+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семинар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лаб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. работа+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ответы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у доски +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контр</a:t>
            </a:r>
            <a:r>
              <a:rPr lang="ru-RU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. работа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Все оценки рассматриваются без округления.</a:t>
            </a:r>
          </a:p>
          <a:p>
            <a:pPr lvl="0" algn="l"/>
            <a:endParaRPr lang="zh-CN" altLang="en-US" sz="2400" dirty="0"/>
          </a:p>
          <a:p>
            <a:pPr lvl="0" algn="l"/>
            <a:endParaRPr lang="zh-CN" altLang="en-US" sz="2400" dirty="0"/>
          </a:p>
        </p:txBody>
      </p:sp>
      <p:sp>
        <p:nvSpPr>
          <p:cNvPr id="1048620" name="TextBox 1048589"/>
          <p:cNvSpPr txBox="1"/>
          <p:nvPr/>
        </p:nvSpPr>
        <p:spPr>
          <a:xfrm>
            <a:off x="0" y="2420888"/>
            <a:ext cx="9252520" cy="43204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0" indent="0">
              <a:buNone/>
            </a:pPr>
            <a:r>
              <a:rPr lang="ru-RU" sz="2200" dirty="0"/>
              <a:t>Результирующая оценка учитывает две оценки модулей. </a:t>
            </a:r>
          </a:p>
          <a:p>
            <a:pPr marL="0" indent="0">
              <a:buNone/>
            </a:pPr>
            <a:r>
              <a:rPr lang="ru-RU" sz="2200" dirty="0"/>
              <a:t>Промежуточная оценка за 1 и 2 модуль вычисляется по формуле</a:t>
            </a:r>
          </a:p>
          <a:p>
            <a:pPr marL="0" indent="0">
              <a:buNone/>
            </a:pPr>
            <a:r>
              <a:rPr lang="ru-RU" sz="2200" dirty="0" err="1"/>
              <a:t>О</a:t>
            </a:r>
            <a:r>
              <a:rPr lang="ru-RU" sz="2200" baseline="-25000" dirty="0" err="1"/>
              <a:t>промежуточная</a:t>
            </a:r>
            <a:r>
              <a:rPr lang="ru-RU" sz="2200" baseline="-25000" dirty="0"/>
              <a:t> 1 и 2</a:t>
            </a:r>
            <a:r>
              <a:rPr lang="ru-RU" sz="2200" dirty="0"/>
              <a:t> =  0,3* </a:t>
            </a:r>
            <a:r>
              <a:rPr lang="ru-RU" sz="2200" dirty="0" err="1"/>
              <a:t>О</a:t>
            </a:r>
            <a:r>
              <a:rPr lang="ru-RU" sz="2200" baseline="-25000" dirty="0" err="1"/>
              <a:t>текущая</a:t>
            </a:r>
            <a:r>
              <a:rPr lang="ru-RU" sz="2200" baseline="-25000" dirty="0"/>
              <a:t> 1</a:t>
            </a:r>
            <a:r>
              <a:rPr lang="ru-RU" sz="2200" dirty="0"/>
              <a:t> + 0,5*</a:t>
            </a:r>
            <a:r>
              <a:rPr lang="ru-RU" sz="2200" dirty="0" err="1"/>
              <a:t>О</a:t>
            </a:r>
            <a:r>
              <a:rPr lang="ru-RU" sz="2200" baseline="-25000" dirty="0" err="1"/>
              <a:t>текущая</a:t>
            </a:r>
            <a:r>
              <a:rPr lang="ru-RU" sz="2200" baseline="-25000" dirty="0"/>
              <a:t> 2</a:t>
            </a:r>
            <a:r>
              <a:rPr lang="ru-RU" sz="2200" dirty="0"/>
              <a:t>+ 0,2*   </a:t>
            </a:r>
            <a:r>
              <a:rPr lang="ru-RU" sz="2200" dirty="0" err="1"/>
              <a:t>О</a:t>
            </a:r>
            <a:r>
              <a:rPr lang="ru-RU" sz="2200" baseline="-25000" dirty="0" err="1"/>
              <a:t>экзамен</a:t>
            </a:r>
            <a:r>
              <a:rPr lang="ru-RU" sz="2200" baseline="-25000" dirty="0"/>
              <a:t> 2 модуль</a:t>
            </a:r>
            <a:r>
              <a:rPr lang="ru-RU" sz="2200" dirty="0"/>
              <a:t>, </a:t>
            </a:r>
          </a:p>
          <a:p>
            <a:pPr marL="0" indent="0">
              <a:buNone/>
            </a:pPr>
            <a:r>
              <a:rPr lang="ru-RU" sz="2200" dirty="0"/>
              <a:t>где </a:t>
            </a:r>
            <a:r>
              <a:rPr lang="ru-RU" sz="2200" dirty="0" err="1"/>
              <a:t>О</a:t>
            </a:r>
            <a:r>
              <a:rPr lang="ru-RU" sz="2200" i="1" baseline="-25000" dirty="0" err="1"/>
              <a:t>текущая</a:t>
            </a:r>
            <a:r>
              <a:rPr lang="ru-RU" sz="2200" i="1" baseline="-25000" dirty="0"/>
              <a:t> 1</a:t>
            </a:r>
            <a:r>
              <a:rPr lang="ru-RU" sz="2200" dirty="0"/>
              <a:t> ,</a:t>
            </a:r>
            <a:r>
              <a:rPr lang="ru-RU" sz="2200" dirty="0" err="1"/>
              <a:t>О</a:t>
            </a:r>
            <a:r>
              <a:rPr lang="ru-RU" sz="2200" i="1" baseline="-25000" dirty="0" err="1"/>
              <a:t>текущая</a:t>
            </a:r>
            <a:r>
              <a:rPr lang="ru-RU" sz="2200" i="1" baseline="-25000" dirty="0"/>
              <a:t> 2</a:t>
            </a:r>
            <a:r>
              <a:rPr lang="ru-RU" sz="2200" i="1" dirty="0"/>
              <a:t>– </a:t>
            </a:r>
            <a:r>
              <a:rPr lang="ru-RU" sz="2200" dirty="0"/>
              <a:t>оценки текущего          контроля 1, 2  модуля, без округления. </a:t>
            </a:r>
          </a:p>
          <a:p>
            <a:pPr marL="0" indent="0">
              <a:buNone/>
            </a:pPr>
            <a:r>
              <a:rPr lang="ru-RU" sz="2200" dirty="0"/>
              <a:t>Округление производится один раз, после вычисления </a:t>
            </a:r>
            <a:r>
              <a:rPr lang="ru-RU" sz="2200" dirty="0" err="1"/>
              <a:t>промежуточ</a:t>
            </a:r>
            <a:r>
              <a:rPr lang="en-US" sz="2200" dirty="0"/>
              <a:t>-</a:t>
            </a:r>
            <a:r>
              <a:rPr lang="ru-RU" sz="2200" dirty="0"/>
              <a:t>ной оценки, по правилам арифметики.  </a:t>
            </a:r>
          </a:p>
          <a:p>
            <a:pPr marL="0" lvl="0" indent="0">
              <a:buFontTx/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5954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extBox 1048592"/>
          <p:cNvSpPr txBox="1"/>
          <p:nvPr/>
        </p:nvSpPr>
        <p:spPr>
          <a:xfrm>
            <a:off x="683568" y="692696"/>
            <a:ext cx="8208912" cy="56886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0" indent="0">
              <a:buNone/>
            </a:pPr>
            <a:r>
              <a:rPr lang="ru-RU" sz="2400" dirty="0"/>
              <a:t>Экзаменационная оценка не является блокирующей.   Промежуточная оценка за 1 и 2 модуль не может пре-  </a:t>
            </a:r>
            <a:r>
              <a:rPr lang="ru-RU" sz="2400" dirty="0" err="1"/>
              <a:t>вышать</a:t>
            </a:r>
            <a:r>
              <a:rPr lang="ru-RU" sz="2400" dirty="0"/>
              <a:t> 10 баллов, в случае превышения ставится про-межуточная оценка 10 баллов.</a:t>
            </a:r>
          </a:p>
          <a:p>
            <a:pPr marL="0" lvl="0" indent="0">
              <a:buFontTx/>
              <a:buNone/>
            </a:pPr>
            <a:endParaRPr lang="ru-RU" altLang="zh-CN" sz="2400" dirty="0"/>
          </a:p>
          <a:p>
            <a:pPr marL="0" indent="0">
              <a:buNone/>
            </a:pPr>
            <a:r>
              <a:rPr lang="ru-RU" sz="2400" dirty="0"/>
              <a:t>Результирующая оценка за дисциплину вычисляется по формуле</a:t>
            </a:r>
          </a:p>
          <a:p>
            <a:pPr marL="0" indent="0">
              <a:buNone/>
            </a:pPr>
            <a:r>
              <a:rPr lang="ru-RU" sz="2400" dirty="0" err="1"/>
              <a:t>О</a:t>
            </a:r>
            <a:r>
              <a:rPr lang="ru-RU" sz="2400" baseline="-25000" dirty="0" err="1"/>
              <a:t>результирующая</a:t>
            </a:r>
            <a:r>
              <a:rPr lang="ru-RU" sz="2400" baseline="-25000" dirty="0"/>
              <a:t> </a:t>
            </a:r>
            <a:r>
              <a:rPr lang="ru-RU" sz="2400" dirty="0"/>
              <a:t>=0,4*О</a:t>
            </a:r>
            <a:r>
              <a:rPr lang="ru-RU" sz="2400" baseline="-25000" dirty="0"/>
              <a:t> промежуточная 1 и 2</a:t>
            </a:r>
            <a:r>
              <a:rPr lang="ru-RU" sz="2400" dirty="0"/>
              <a:t> +0,6*О</a:t>
            </a:r>
            <a:r>
              <a:rPr lang="ru-RU" sz="2400" baseline="-25000" dirty="0"/>
              <a:t> промежуточная 3 и 4.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Округление производится по правилам арифметики.  </a:t>
            </a:r>
          </a:p>
          <a:p>
            <a:pPr marL="0" indent="0">
              <a:buNone/>
            </a:pPr>
            <a:r>
              <a:rPr lang="ru-RU" sz="2400" dirty="0"/>
              <a:t>В диплом выставляется результирующая оценка. </a:t>
            </a:r>
          </a:p>
          <a:p>
            <a:pPr marL="0" lvl="0" indent="0">
              <a:buFontTx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47432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9" y="916915"/>
            <a:ext cx="8208912" cy="122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5010" tIns="76176" rIns="91440" bIns="38088" numCol="1" anchor="ctr" anchorCtr="0" compatLnSpc="1">
            <a:prstTxWarp prst="textNoShape">
              <a:avLst/>
            </a:prstTxWarp>
            <a:spAutoFit/>
          </a:bodyPr>
          <a:lstStyle>
            <a:lvl1pPr indent="4508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60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04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57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Для вычисления текущей оценки по дисциплине используется следующая таблица </a:t>
            </a:r>
            <a:r>
              <a:rPr kumimoji="0" lang="ru-RU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23529" y="5269850"/>
            <a:ext cx="8208912" cy="122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5010" tIns="76176" rIns="91440" bIns="38088" numCol="1" anchor="ctr" anchorCtr="0" compatLnSpc="1">
            <a:prstTxWarp prst="textNoShape">
              <a:avLst/>
            </a:prstTxWarp>
            <a:spAutoFit/>
          </a:bodyPr>
          <a:lstStyle>
            <a:lvl1pPr indent="4508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60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04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57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zh-CN" sz="2400" dirty="0">
                <a:latin typeface="Times New Roman" pitchFamily="18" charset="0"/>
                <a:cs typeface="Times New Roman" pitchFamily="18" charset="0"/>
              </a:rPr>
              <a:t>В скобках указано распределение баллов по лабораторным работам.</a:t>
            </a:r>
            <a:endParaRPr kumimoji="0" lang="ru-RU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6992"/>
              </p:ext>
            </p:extLst>
          </p:nvPr>
        </p:nvGraphicFramePr>
        <p:xfrm>
          <a:off x="683568" y="1988841"/>
          <a:ext cx="8064896" cy="2340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7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92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121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dirty="0">
                          <a:effectLst/>
                        </a:rPr>
                        <a:t>  </a:t>
                      </a:r>
                      <a:endParaRPr lang="ru-RU" sz="24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200" dirty="0">
                          <a:effectLst/>
                        </a:rPr>
                        <a:t>Работа на семинарском занятии</a:t>
                      </a:r>
                      <a:endParaRPr lang="ru-RU" sz="2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200" dirty="0">
                          <a:effectLst/>
                        </a:rPr>
                        <a:t>Работа на лекции</a:t>
                      </a:r>
                      <a:endParaRPr lang="ru-RU" sz="2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200" dirty="0">
                          <a:effectLst/>
                        </a:rPr>
                        <a:t>Выполнение лабораторного практикума</a:t>
                      </a:r>
                      <a:endParaRPr lang="ru-RU" sz="2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200" dirty="0">
                          <a:effectLst/>
                        </a:rPr>
                        <a:t>Контрольная работа</a:t>
                      </a:r>
                      <a:endParaRPr lang="ru-RU" sz="2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>
                          <a:effectLst/>
                        </a:rPr>
                        <a:t>1 модуль</a:t>
                      </a:r>
                      <a:endParaRPr lang="ru-RU" sz="240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dirty="0">
                          <a:effectLst/>
                        </a:rPr>
                        <a:t>1</a:t>
                      </a:r>
                      <a:endParaRPr lang="ru-RU" sz="24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>
                          <a:effectLst/>
                        </a:rPr>
                        <a:t>2</a:t>
                      </a:r>
                      <a:endParaRPr lang="ru-RU" sz="24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>
                          <a:effectLst/>
                        </a:rPr>
                        <a:t>7 (3+4)</a:t>
                      </a:r>
                      <a:endParaRPr lang="ru-RU" sz="240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>
                          <a:effectLst/>
                        </a:rPr>
                        <a:t>2 модуль</a:t>
                      </a:r>
                      <a:endParaRPr lang="ru-RU" sz="240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>
                          <a:effectLst/>
                        </a:rPr>
                        <a:t>1</a:t>
                      </a:r>
                      <a:endParaRPr lang="ru-RU" sz="240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>
                          <a:effectLst/>
                        </a:rPr>
                        <a:t>1</a:t>
                      </a:r>
                      <a:endParaRPr lang="ru-RU" sz="240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dirty="0">
                          <a:effectLst/>
                        </a:rPr>
                        <a:t>5</a:t>
                      </a:r>
                      <a:r>
                        <a:rPr lang="en-US" sz="2400" dirty="0">
                          <a:effectLst/>
                        </a:rPr>
                        <a:t>(2+</a:t>
                      </a:r>
                      <a:r>
                        <a:rPr lang="ru-RU" sz="2400" dirty="0">
                          <a:effectLst/>
                        </a:rPr>
                        <a:t>2+1</a:t>
                      </a:r>
                      <a:r>
                        <a:rPr lang="en-US" sz="2400" dirty="0">
                          <a:effectLst/>
                        </a:rPr>
                        <a:t>)</a:t>
                      </a:r>
                      <a:endParaRPr lang="ru-RU" sz="24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dirty="0">
                          <a:effectLst/>
                        </a:rPr>
                        <a:t>3</a:t>
                      </a:r>
                      <a:endParaRPr lang="ru-RU" sz="24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75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4"/>
          </a:xfrm>
        </p:spPr>
        <p:txBody>
          <a:bodyPr/>
          <a:lstStyle/>
          <a:p>
            <a:r>
              <a:rPr lang="ru-RU" sz="2200" dirty="0"/>
              <a:t>Ни один из элементов текущего контроля не является блокирующим.</a:t>
            </a:r>
          </a:p>
          <a:p>
            <a:r>
              <a:rPr lang="ru-RU" sz="2200" dirty="0"/>
              <a:t>На некоторых семинарах  и лекциях проводится тест или проверочная работа. Каждый вид работы оценивается от 1 до 4 баллов. В итоговую оценку эти баллы входят с коэффициентом, получаемым делением числа занятий, на которых проводилось оценивание, на общее количество занятий. </a:t>
            </a:r>
          </a:p>
          <a:p>
            <a:r>
              <a:rPr lang="ru-RU" sz="2200" dirty="0"/>
              <a:t>При пропуске лекции или семинарского занятия по любой причине студент не может решить дополнительное задание для компенсации баллов, которые он мог бы получить на этом занятии.</a:t>
            </a:r>
          </a:p>
          <a:p>
            <a:r>
              <a:rPr lang="ru-RU" sz="2200" dirty="0"/>
              <a:t>Кроме того, преподаватель может оценивать дополнительными баллами ответ студента у доски (максимум 2 балла) и активное участие в решении задач семинаров (например, выявление и исправление неточностей и ошибок в алгоритмах и при кодировании программ, внесение усовершенствований в алгоритм и т.п.) (максимум по 0.2 балла за каждый ответ). </a:t>
            </a:r>
          </a:p>
        </p:txBody>
      </p:sp>
    </p:spTree>
    <p:extLst>
      <p:ext uri="{BB962C8B-B14F-4D97-AF65-F5344CB8AC3E}">
        <p14:creationId xmlns:p14="http://schemas.microsoft.com/office/powerpoint/2010/main" val="257665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648"/>
            <a:ext cx="8579296" cy="5865514"/>
          </a:xfrm>
        </p:spPr>
        <p:txBody>
          <a:bodyPr/>
          <a:lstStyle/>
          <a:p>
            <a:r>
              <a:rPr lang="ru-RU" sz="2200" dirty="0"/>
              <a:t>Для каждой лабораторной работы устанавливается срок защиты отчета (в 1 модуле на 2 и 4 занятии, считая пары отдельно для каждой подгруппы). При своевременной защите работа оценивается полученным баллом, при опоздании на 1 </a:t>
            </a:r>
            <a:r>
              <a:rPr lang="ru-RU" sz="2200" dirty="0" smtClean="0"/>
              <a:t>занятие </a:t>
            </a:r>
            <a:r>
              <a:rPr lang="ru-RU" sz="2200" dirty="0"/>
              <a:t>балл снижается на 40%, при опоздании на 2 </a:t>
            </a:r>
            <a:r>
              <a:rPr lang="ru-RU" sz="2200" dirty="0" smtClean="0"/>
              <a:t>занятия </a:t>
            </a:r>
            <a:r>
              <a:rPr lang="ru-RU" sz="2200" dirty="0"/>
              <a:t>балл снижается на 60% от полученной оценки. При опоздании более чем на 2 </a:t>
            </a:r>
            <a:r>
              <a:rPr lang="ru-RU" sz="2200" dirty="0" smtClean="0"/>
              <a:t>занятия </a:t>
            </a:r>
            <a:r>
              <a:rPr lang="ru-RU" sz="2200" dirty="0"/>
              <a:t>работа не оценивается. </a:t>
            </a:r>
          </a:p>
          <a:p>
            <a:r>
              <a:rPr lang="ru-RU" sz="2200" dirty="0"/>
              <a:t>В случае пропуска занятий по уважительной причине (обязательно предоставление справки) срок сдачи лабораторной работы может быть перенесен на соответствующее количество рабочих дней.</a:t>
            </a:r>
          </a:p>
          <a:p>
            <a:r>
              <a:rPr lang="ru-RU" sz="2200" dirty="0"/>
              <a:t>В случае пропуска занятий по уважительной причине (обязательно предоставление справки) предоставляется дополнительное время для написания контрольной работы (единственная дата написания заранее сообщается через старост).</a:t>
            </a:r>
          </a:p>
          <a:p>
            <a:r>
              <a:rPr lang="ru-RU" sz="2200" dirty="0"/>
              <a:t>Переписывание контрольной работы с целью повышения полученной оценки не допускается.</a:t>
            </a:r>
          </a:p>
        </p:txBody>
      </p:sp>
    </p:spTree>
    <p:extLst>
      <p:ext uri="{BB962C8B-B14F-4D97-AF65-F5344CB8AC3E}">
        <p14:creationId xmlns:p14="http://schemas.microsoft.com/office/powerpoint/2010/main" val="310249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648"/>
            <a:ext cx="8579296" cy="5865514"/>
          </a:xfrm>
        </p:spPr>
        <p:txBody>
          <a:bodyPr/>
          <a:lstStyle/>
          <a:p>
            <a:r>
              <a:rPr lang="ru-RU" sz="2200" dirty="0"/>
              <a:t>Для последней лабораторной работы устанавливается один дедлайн – последнее занятие по лабораторным работам в этой группе. После этой даты сдать лабораторную работу нельзя.</a:t>
            </a:r>
          </a:p>
          <a:p>
            <a:r>
              <a:rPr lang="ru-RU" sz="2200" dirty="0"/>
              <a:t>После завершения модуля </a:t>
            </a:r>
            <a:r>
              <a:rPr lang="ru-RU" sz="2200" dirty="0" err="1"/>
              <a:t>досдать</a:t>
            </a:r>
            <a:r>
              <a:rPr lang="ru-RU" sz="2200" dirty="0"/>
              <a:t> работы нельзя. </a:t>
            </a:r>
          </a:p>
          <a:p>
            <a:r>
              <a:rPr lang="ru-RU" sz="2200" dirty="0"/>
              <a:t>Пересдача лабораторной </a:t>
            </a:r>
            <a:r>
              <a:rPr lang="ru-RU" sz="2200" dirty="0" smtClean="0"/>
              <a:t>работы </a:t>
            </a:r>
            <a:r>
              <a:rPr lang="ru-RU" sz="2200" dirty="0"/>
              <a:t>работы с целью повышения полученной оценки не допускается.</a:t>
            </a:r>
          </a:p>
        </p:txBody>
      </p:sp>
    </p:spTree>
    <p:extLst>
      <p:ext uri="{BB962C8B-B14F-4D97-AF65-F5344CB8AC3E}">
        <p14:creationId xmlns:p14="http://schemas.microsoft.com/office/powerpoint/2010/main" val="285118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Заголовок 1048594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Arial" charset="0"/>
                <a:ea typeface="Arial" charset="0"/>
                <a:sym typeface="Arial" charset="0"/>
              </a:defRPr>
            </a:lvl1pPr>
          </a:lstStyle>
          <a:p>
            <a:pPr lvl="0" eaLnBrk="1" latinLnBrk="1" hangingPunct="1"/>
            <a:r>
              <a:rPr lang="zh-CN" altLang="en-US" sz="4000"/>
              <a:t> </a:t>
            </a:r>
            <a:r>
              <a:rPr lang="zh-CN" altLang="en-US" sz="3200" b="1"/>
              <a:t>Требования к оформлению отчета</a:t>
            </a:r>
            <a:r>
              <a:t/>
            </a:r>
            <a:br/>
            <a:endParaRPr lang="zh-CN" altLang="en-US" sz="4000" b="1"/>
          </a:p>
        </p:txBody>
      </p:sp>
      <p:sp>
        <p:nvSpPr>
          <p:cNvPr id="1048627" name="Текст 1048595"/>
          <p:cNvSpPr>
            <a:spLocks noGrp="1"/>
          </p:cNvSpPr>
          <p:nvPr>
            <p:ph type="body" idx="1"/>
          </p:nvPr>
        </p:nvSpPr>
        <p:spPr>
          <a:xfrm>
            <a:off x="468312" y="981075"/>
            <a:ext cx="8064128" cy="54721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latin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	</a:t>
            </a:r>
            <a:r>
              <a:rPr lang="zh-CN" altLang="en-US" sz="2000" dirty="0"/>
              <a:t>Выполнение каждой работы лабораторного практикума завер</a:t>
            </a:r>
            <a:r>
              <a:rPr lang="ru-RU" altLang="zh-CN" sz="2000" dirty="0"/>
              <a:t>-</a:t>
            </a:r>
            <a:r>
              <a:rPr lang="zh-CN" altLang="en-US" sz="2000" dirty="0"/>
              <a:t>шается написанием отчета, включающего следующие разделы: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en-US" altLang="en-US" sz="2000" dirty="0"/>
              <a:t> </a:t>
            </a:r>
            <a:r>
              <a:rPr lang="en-US" altLang="en-US" sz="2000" dirty="0" err="1"/>
              <a:t>титульный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лист</a:t>
            </a:r>
            <a:r>
              <a:rPr lang="en-US" altLang="en-US" sz="20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en-US" altLang="en-US" sz="2400" dirty="0"/>
              <a:t> </a:t>
            </a:r>
            <a:r>
              <a:rPr lang="en-US" altLang="en-US" sz="2400" dirty="0" err="1"/>
              <a:t>содержание</a:t>
            </a:r>
            <a:r>
              <a:rPr lang="en-US" altLang="en-US" sz="24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en-US" altLang="en-US" sz="2400" dirty="0"/>
              <a:t> </a:t>
            </a:r>
            <a:r>
              <a:rPr lang="en-US" altLang="en-US" sz="2400" dirty="0" err="1"/>
              <a:t>задание</a:t>
            </a:r>
            <a:r>
              <a:rPr lang="en-US" altLang="en-US" sz="24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en-US" altLang="en-US" sz="2400" dirty="0"/>
              <a:t> </a:t>
            </a:r>
            <a:r>
              <a:rPr lang="en-US" altLang="en-US" sz="2400" dirty="0" err="1"/>
              <a:t>постановка</a:t>
            </a:r>
            <a:r>
              <a:rPr lang="en-US" altLang="en-US" sz="2400" dirty="0"/>
              <a:t> </a:t>
            </a:r>
            <a:r>
              <a:rPr lang="en-US" altLang="en-US" sz="2400" dirty="0" err="1"/>
              <a:t>задачи</a:t>
            </a:r>
            <a:r>
              <a:rPr lang="en-US" altLang="en-US" sz="2400" dirty="0"/>
              <a:t> - 0,5</a:t>
            </a:r>
            <a:r>
              <a:rPr lang="zh-CN" altLang="en-US" sz="24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zh-CN" altLang="en-US" sz="2400" dirty="0"/>
              <a:t> метод решения задачи</a:t>
            </a:r>
            <a:r>
              <a:rPr lang="en-US" altLang="en-US" sz="2400" dirty="0"/>
              <a:t> - 1</a:t>
            </a:r>
            <a:r>
              <a:rPr lang="zh-CN" altLang="en-US" sz="24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zh-CN" altLang="en-US" sz="2400" dirty="0"/>
              <a:t> внешняя спецификация</a:t>
            </a:r>
            <a:r>
              <a:rPr lang="en-US" altLang="en-US" sz="2400" dirty="0"/>
              <a:t> - 0,5</a:t>
            </a:r>
            <a:r>
              <a:rPr lang="zh-CN" altLang="en-US" sz="24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zh-CN" altLang="en-US" sz="2400" dirty="0"/>
              <a:t> описание алгоритма на псевдокоде</a:t>
            </a:r>
            <a:r>
              <a:rPr lang="en-US" altLang="en-US" sz="2400" dirty="0"/>
              <a:t> - 1,5</a:t>
            </a:r>
            <a:r>
              <a:rPr lang="zh-CN" altLang="en-US" sz="24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zh-CN" altLang="en-US" sz="2400" dirty="0"/>
              <a:t> листинг программы</a:t>
            </a:r>
            <a:r>
              <a:rPr lang="en-US" altLang="en-US" sz="2400" dirty="0"/>
              <a:t> - 0,5 +1 </a:t>
            </a:r>
            <a:r>
              <a:rPr lang="zh-CN" altLang="en-US" sz="2400" dirty="0"/>
              <a:t> программа работает;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zh-CN" altLang="en-US" sz="2400" dirty="0"/>
              <a:t> распечатка тестов к программе и результатов</a:t>
            </a:r>
            <a:r>
              <a:rPr lang="en-US" altLang="en-US" sz="2400" dirty="0"/>
              <a:t> – 1</a:t>
            </a:r>
            <a:r>
              <a:rPr lang="zh-CN" altLang="en-US" sz="2400" dirty="0"/>
              <a:t>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zh-CN" altLang="en-US" sz="2400" dirty="0"/>
              <a:t>вопросы по отчету – 2;</a:t>
            </a:r>
          </a:p>
          <a:p>
            <a:pPr lvl="0" eaLnBrk="1" latinLnBrk="1" hangingPunct="1">
              <a:lnSpc>
                <a:spcPct val="80000"/>
              </a:lnSpc>
            </a:pPr>
            <a:r>
              <a:rPr lang="zh-CN" altLang="en-US" sz="2400" dirty="0"/>
              <a:t>дополнительное задание </a:t>
            </a:r>
            <a:r>
              <a:rPr lang="en-US" altLang="zh-CN" sz="2400" dirty="0"/>
              <a:t>–</a:t>
            </a:r>
            <a:r>
              <a:rPr lang="ru-RU" altLang="zh-CN" sz="2400" dirty="0"/>
              <a:t> 2.</a:t>
            </a:r>
          </a:p>
          <a:p>
            <a:pPr lvl="0" eaLnBrk="1" latinLnBrk="1" hangingPunct="1">
              <a:lnSpc>
                <a:spcPct val="80000"/>
              </a:lnSpc>
            </a:pPr>
            <a:endParaRPr lang="ru-RU" altLang="zh-CN" sz="2400" dirty="0"/>
          </a:p>
          <a:p>
            <a:pPr marL="0" lvl="0" indent="0" eaLnBrk="1" latinLnBrk="1" hangingPunct="1">
              <a:lnSpc>
                <a:spcPct val="80000"/>
              </a:lnSpc>
              <a:buNone/>
            </a:pPr>
            <a:r>
              <a:rPr lang="ru-RU" altLang="zh-CN" sz="2000" dirty="0"/>
              <a:t>Через тире указан вес каждого раздела в оценке за выполнение  лабораторной работы.</a:t>
            </a:r>
            <a:r>
              <a:rPr lang="zh-CN" altLang="en-US" sz="2000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Заголовок 1048596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9006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Arial" charset="0"/>
                <a:ea typeface="Arial" charset="0"/>
                <a:sym typeface="Arial" charset="0"/>
              </a:defRPr>
            </a:lvl1pPr>
          </a:lstStyle>
          <a:p>
            <a:pPr lvl="0"/>
            <a:r>
              <a:rPr lang="zh-CN" altLang="en-US" sz="3200" b="1" dirty="0"/>
              <a:t>Требования к оформлению отчета</a:t>
            </a:r>
          </a:p>
        </p:txBody>
      </p:sp>
      <p:sp>
        <p:nvSpPr>
          <p:cNvPr id="1048629" name="Объект 1048597"/>
          <p:cNvSpPr>
            <a:spLocks noGrp="1"/>
          </p:cNvSpPr>
          <p:nvPr>
            <p:ph idx="1"/>
          </p:nvPr>
        </p:nvSpPr>
        <p:spPr>
          <a:xfrm>
            <a:off x="457200" y="836712"/>
            <a:ext cx="8507288" cy="554461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/>
            <a:r>
              <a:rPr lang="zh-CN" altLang="en-US" sz="2400" dirty="0"/>
              <a:t>Для оформления отчета используется формат бума</a:t>
            </a:r>
            <a:r>
              <a:rPr lang="ru-RU" altLang="zh-CN" sz="2400" dirty="0"/>
              <a:t>г</a:t>
            </a:r>
            <a:r>
              <a:rPr lang="zh-CN" altLang="en-US" sz="2400" dirty="0"/>
              <a:t>и А4.</a:t>
            </a:r>
          </a:p>
          <a:p>
            <a:pPr lvl="0"/>
            <a:r>
              <a:rPr lang="zh-CN" altLang="en-US" sz="2400" dirty="0"/>
              <a:t>Печать отчета </a:t>
            </a:r>
            <a:r>
              <a:rPr lang="ru-RU" altLang="zh-CN" sz="2400" dirty="0"/>
              <a:t>предусматривает распечатку титульного листа и страницы с заданием</a:t>
            </a:r>
            <a:r>
              <a:rPr lang="zh-CN" altLang="en-US" sz="2400" dirty="0"/>
              <a:t>.</a:t>
            </a:r>
            <a:r>
              <a:rPr lang="ru-RU" altLang="zh-CN" sz="2400" dirty="0"/>
              <a:t> Остальная часть отчета предъявляется для защиты в электронном виде.</a:t>
            </a:r>
            <a:endParaRPr lang="zh-CN" altLang="en-US" sz="2400" dirty="0"/>
          </a:p>
          <a:p>
            <a:pPr lvl="0"/>
            <a:r>
              <a:rPr lang="zh-CN" altLang="en-US" sz="2400" dirty="0"/>
              <a:t>Каждый раздел отчета начинается с нового листа.</a:t>
            </a:r>
          </a:p>
          <a:p>
            <a:pPr lvl="0"/>
            <a:r>
              <a:rPr lang="zh-CN" altLang="en-US" sz="2400" dirty="0"/>
              <a:t>Правки в </a:t>
            </a:r>
            <a:r>
              <a:rPr lang="ru-RU" altLang="zh-CN" sz="2400" dirty="0"/>
              <a:t>итоговый </a:t>
            </a:r>
            <a:r>
              <a:rPr lang="zh-CN" altLang="en-US" sz="2400" dirty="0"/>
              <a:t>отчет </a:t>
            </a:r>
            <a:r>
              <a:rPr lang="ru-RU" altLang="zh-CN" sz="2400" dirty="0"/>
              <a:t>нужно внести после исправления всех замечаний</a:t>
            </a:r>
            <a:r>
              <a:rPr lang="zh-CN" altLang="en-US" sz="2400" dirty="0"/>
              <a:t>.</a:t>
            </a:r>
            <a:endParaRPr lang="ru-RU" altLang="zh-CN" sz="2400" dirty="0"/>
          </a:p>
          <a:p>
            <a:pPr lvl="0"/>
            <a:r>
              <a:rPr lang="ru-RU" altLang="zh-CN" sz="2400" dirty="0"/>
              <a:t>Итоговый отчет отправляется на почту преподавателю (или учебному ассистенту), принимавшему отчет.</a:t>
            </a:r>
          </a:p>
          <a:p>
            <a:pPr lvl="0"/>
            <a:r>
              <a:rPr lang="ru-RU" altLang="zh-CN" sz="2400" dirty="0"/>
              <a:t>Итоговая оценка выставляется на титульном листе отчёта. Титульный лист сдается преподавателю.</a:t>
            </a:r>
          </a:p>
          <a:p>
            <a:pPr lvl="0"/>
            <a:r>
              <a:rPr lang="ru-RU" altLang="zh-CN" sz="2400" dirty="0"/>
              <a:t>Студенту необходимо сделать фото титульного листа с оценкой и сохранять его до конца модуля.	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116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Прямоугольник 1048598"/>
          <p:cNvSpPr/>
          <p:nvPr/>
        </p:nvSpPr>
        <p:spPr>
          <a:xfrm>
            <a:off x="319016" y="285303"/>
            <a:ext cx="8222123" cy="6001643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0" lvl="0" indent="0" algn="ctr">
              <a:buFontTx/>
              <a:buNone/>
            </a:pPr>
            <a:r>
              <a:rPr lang="zh-CN" altLang="en-US" sz="1600" b="1" dirty="0"/>
              <a:t>Федеральное государственное автономное образовательное учреждение </a:t>
            </a:r>
          </a:p>
          <a:p>
            <a:pPr marL="0" lvl="0" indent="0" algn="ctr">
              <a:buFontTx/>
              <a:buNone/>
            </a:pPr>
            <a:r>
              <a:rPr lang="zh-CN" altLang="en-US" sz="1600" b="1" dirty="0"/>
              <a:t>высшего образования </a:t>
            </a:r>
            <a:r>
              <a:rPr dirty="0"/>
              <a:t/>
            </a:r>
            <a:br>
              <a:rPr dirty="0"/>
            </a:br>
            <a:r>
              <a:rPr lang="zh-CN" altLang="en-US" sz="1600" b="1" dirty="0"/>
              <a:t>"Национальный исследовательский университет </a:t>
            </a:r>
            <a:r>
              <a:rPr dirty="0"/>
              <a:t/>
            </a:r>
            <a:br>
              <a:rPr dirty="0"/>
            </a:br>
            <a:r>
              <a:rPr lang="zh-CN" altLang="en-US" sz="1600" b="1" dirty="0"/>
              <a:t>"Высшая школа экономики"</a:t>
            </a:r>
            <a:endParaRPr lang="en-US" altLang="en-US" sz="1600" dirty="0"/>
          </a:p>
          <a:p>
            <a:pPr marL="0" lvl="0" indent="0" algn="ctr">
              <a:buFontTx/>
              <a:buNone/>
            </a:pPr>
            <a:endParaRPr lang="en-US" altLang="en-US" sz="1600" dirty="0"/>
          </a:p>
          <a:p>
            <a:pPr marL="0" lvl="0" indent="0" algn="ctr">
              <a:buFontTx/>
              <a:buNone/>
            </a:pPr>
            <a:r>
              <a:rPr lang="en-US" altLang="en-US" sz="1600" dirty="0" err="1"/>
              <a:t>Московский</a:t>
            </a:r>
            <a:r>
              <a:rPr lang="en-US" altLang="en-US" sz="1600" dirty="0"/>
              <a:t> </a:t>
            </a:r>
            <a:r>
              <a:rPr lang="en-US" altLang="en-US" sz="1600" dirty="0" err="1"/>
              <a:t>институт</a:t>
            </a:r>
            <a:r>
              <a:rPr lang="en-US" altLang="en-US" sz="1600" dirty="0"/>
              <a:t> </a:t>
            </a:r>
            <a:r>
              <a:rPr lang="en-US" altLang="en-US" sz="1600" dirty="0" err="1"/>
              <a:t>электроники</a:t>
            </a:r>
            <a:r>
              <a:rPr lang="en-US" altLang="en-US" sz="1600" dirty="0"/>
              <a:t> и </a:t>
            </a:r>
            <a:r>
              <a:rPr lang="en-US" altLang="en-US" sz="1600" dirty="0" err="1"/>
              <a:t>математики</a:t>
            </a:r>
            <a:r>
              <a:rPr lang="en-US" altLang="en-US" sz="1600" dirty="0"/>
              <a:t> </a:t>
            </a:r>
            <a:r>
              <a:rPr lang="zh-CN" altLang="en-US" sz="1600" dirty="0"/>
              <a:t>им. А.Н. Тихонова НИУ ВШЭ</a:t>
            </a:r>
          </a:p>
          <a:p>
            <a:pPr marL="0" lvl="0" indent="0" algn="ctr">
              <a:buFontTx/>
              <a:buNone/>
            </a:pPr>
            <a:r>
              <a:rPr lang="zh-CN" altLang="en-US" sz="1600" dirty="0"/>
              <a:t>Департамент компьютерной инженерии</a:t>
            </a:r>
            <a:r>
              <a:rPr lang="ru-RU" altLang="zh-CN" sz="1600" dirty="0"/>
              <a:t> (или департамент электронной инженерии)</a:t>
            </a:r>
            <a:endParaRPr lang="zh-CN" altLang="en-US" sz="1600" dirty="0"/>
          </a:p>
          <a:p>
            <a:pPr marL="0" lvl="0" indent="0" algn="ctr">
              <a:buFontTx/>
              <a:buNone/>
            </a:pPr>
            <a:r>
              <a:rPr lang="zh-CN" altLang="en-US" sz="1600" dirty="0"/>
              <a:t> 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600" b="1" dirty="0"/>
              <a:t>Курс: </a:t>
            </a:r>
            <a:r>
              <a:rPr lang="ru-RU" sz="1600" b="1" dirty="0"/>
              <a:t>Алгоритмизация и программирование </a:t>
            </a:r>
            <a:endParaRPr lang="zh-CN" altLang="en-US" sz="1600" b="1" dirty="0"/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endParaRPr lang="zh-CN" altLang="en-US" sz="1600" dirty="0"/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endParaRPr lang="zh-CN" altLang="en-US" sz="1600" dirty="0"/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/>
              <a:t>ОТЧЕТ</a:t>
            </a:r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/>
              <a:t>	                          по лабораторной работе №___</a:t>
            </a:r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endParaRPr lang="zh-CN" altLang="en-US" sz="1600" dirty="0"/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/>
              <a:t>			</a:t>
            </a:r>
            <a:r>
              <a:rPr lang="zh-CN" altLang="en-US" sz="1600" b="1" dirty="0"/>
              <a:t>              Студент:</a:t>
            </a:r>
            <a:r>
              <a:rPr lang="en-US" altLang="en-US" sz="1600" b="1" dirty="0"/>
              <a:t>_______</a:t>
            </a:r>
            <a:r>
              <a:rPr lang="zh-CN" altLang="en-US" sz="1600" b="1" u="sng" dirty="0"/>
              <a:t>ФИО</a:t>
            </a:r>
            <a:r>
              <a:rPr lang="en-US" altLang="en-US" sz="1600" b="1" dirty="0"/>
              <a:t>_____________</a:t>
            </a:r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/>
              <a:t>	</a:t>
            </a:r>
            <a:r>
              <a:rPr lang="zh-CN" altLang="en-US" sz="1600" b="1" dirty="0"/>
              <a:t>	</a:t>
            </a:r>
            <a:r>
              <a:rPr lang="ru-RU" altLang="zh-CN" sz="1600" b="1" dirty="0"/>
              <a:t>	         </a:t>
            </a:r>
            <a:r>
              <a:rPr lang="zh-CN" altLang="en-US" sz="1600" b="1" dirty="0"/>
              <a:t>Группа:</a:t>
            </a:r>
            <a:r>
              <a:rPr lang="en-US" altLang="en-US" sz="1600" b="1" dirty="0"/>
              <a:t>_____</a:t>
            </a:r>
            <a:r>
              <a:rPr lang="ru-RU" altLang="en-US" sz="1600" b="1" u="sng" dirty="0"/>
              <a:t>номер группы</a:t>
            </a:r>
            <a:r>
              <a:rPr lang="en-US" altLang="en-US" sz="1600" b="1" dirty="0"/>
              <a:t>____</a:t>
            </a:r>
            <a:r>
              <a:rPr lang="zh-CN" altLang="en-US" sz="1600" b="1" dirty="0"/>
              <a:t>_</a:t>
            </a:r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/>
              <a:t>			        Вариант:_</a:t>
            </a:r>
            <a:r>
              <a:rPr lang="zh-CN" altLang="en-US" sz="1600" b="1" u="sng" dirty="0"/>
              <a:t>№</a:t>
            </a:r>
            <a:r>
              <a:rPr lang="zh-CN" altLang="en-US" sz="1600" b="1" dirty="0"/>
              <a:t>_</a:t>
            </a:r>
            <a:r>
              <a:rPr lang="zh-CN" altLang="en-US" sz="1600" b="1" u="sng" dirty="0"/>
              <a:t> (номера заданий)</a:t>
            </a:r>
            <a:r>
              <a:rPr lang="zh-CN" altLang="en-US" sz="1600" b="1" dirty="0"/>
              <a:t>_</a:t>
            </a:r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/>
              <a:t>				</a:t>
            </a:r>
            <a:r>
              <a:rPr lang="zh-CN" altLang="en-US" sz="1600" b="1" dirty="0"/>
              <a:t>Руководитель:</a:t>
            </a:r>
            <a:r>
              <a:rPr lang="en-US" altLang="en-US" sz="1600" b="1" dirty="0"/>
              <a:t>___________________</a:t>
            </a:r>
            <a:r>
              <a:rPr lang="zh-CN" altLang="en-US" sz="1600" b="1" dirty="0"/>
              <a:t>_</a:t>
            </a:r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/>
              <a:t>		Оценка:__________</a:t>
            </a:r>
            <a:endParaRPr lang="ru-RU" altLang="zh-CN" sz="1600" b="1" dirty="0"/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ru-RU" altLang="zh-CN" sz="1600" b="1" dirty="0"/>
              <a:t>                 	      Дата  сдачи__________</a:t>
            </a:r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endParaRPr lang="ru-RU" altLang="zh-CN" sz="1600" b="1" dirty="0"/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endParaRPr lang="ru-RU" altLang="zh-CN" sz="1600" b="1" dirty="0"/>
          </a:p>
          <a:p>
            <a:pPr marL="0" lvl="0" indent="0" algn="ctr" eaLnBrk="1" latin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/>
              <a:t> МОСКВА 20</a:t>
            </a:r>
            <a:r>
              <a:rPr lang="en-US" altLang="zh-CN" sz="1600" b="1" dirty="0"/>
              <a:t>2</a:t>
            </a:r>
            <a:r>
              <a:rPr lang="ru-RU" altLang="zh-CN" sz="1600" b="1" dirty="0"/>
              <a:t>4</a:t>
            </a:r>
            <a:endParaRPr lang="zh-CN" altLang="en-US" sz="1600" b="1" dirty="0"/>
          </a:p>
        </p:txBody>
      </p:sp>
      <p:graphicFrame>
        <p:nvGraphicFramePr>
          <p:cNvPr id="4194308" name="Таблица 41943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910767"/>
              </p:ext>
            </p:extLst>
          </p:nvPr>
        </p:nvGraphicFramePr>
        <p:xfrm>
          <a:off x="827087" y="3286125"/>
          <a:ext cx="2663825" cy="2981323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1" dirty="0">
                          <a:solidFill>
                            <a:srgbClr val="000000"/>
                          </a:solidFill>
                        </a:rPr>
                        <a:t>Раздел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1" dirty="0">
                          <a:solidFill>
                            <a:srgbClr val="000000"/>
                          </a:solidFill>
                        </a:rPr>
                        <a:t>Ма</a:t>
                      </a:r>
                      <a:r>
                        <a:rPr lang="en-US" altLang="en-US" sz="1000" b="1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ru-RU" altLang="en-US" sz="1000" b="1" dirty="0">
                        <a:solidFill>
                          <a:srgbClr val="000000"/>
                        </a:solidFill>
                      </a:endParaRPr>
                    </a:p>
                    <a:p>
                      <a:pPr lvl="0" algn="l" eaLnBrk="1" latinLnBrk="1" hangingPunct="1"/>
                      <a:r>
                        <a:rPr lang="en-US" altLang="en-US" sz="10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</a:rPr>
                        <a:t>оценка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1" dirty="0">
                          <a:solidFill>
                            <a:srgbClr val="000000"/>
                          </a:solidFill>
                        </a:rPr>
                        <a:t>Итог. </a:t>
                      </a:r>
                      <a:endParaRPr lang="ru-RU" altLang="zh-CN" sz="1000" b="1" dirty="0">
                        <a:solidFill>
                          <a:srgbClr val="000000"/>
                        </a:solidFill>
                      </a:endParaRPr>
                    </a:p>
                    <a:p>
                      <a:pPr lvl="0" algn="l" eaLnBrk="1" latinLnBrk="1" hangingPunct="1"/>
                      <a:r>
                        <a:rPr lang="zh-CN" altLang="en-US" sz="1000" b="1" dirty="0">
                          <a:solidFill>
                            <a:srgbClr val="000000"/>
                          </a:solidFill>
                        </a:rPr>
                        <a:t>оценка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Постановка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0,5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Метод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7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 dirty="0">
                          <a:solidFill>
                            <a:srgbClr val="000000"/>
                          </a:solidFill>
                        </a:rPr>
                        <a:t>Спецификация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0,5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Алгоритм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1,5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37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Работа программы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 dirty="0">
                          <a:solidFill>
                            <a:srgbClr val="000000"/>
                          </a:solidFill>
                        </a:rPr>
                        <a:t>Листинг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0,5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Тесты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337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Вопросы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Доп. задание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r>
                        <a:rPr lang="zh-CN" altLang="en-US" sz="10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latinLnBrk="1" hangingPunct="1"/>
                      <a:endParaRPr lang="zh-CN" alt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8" marR="91428" marT="45732" marB="45732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Заголовок 1048644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Arial" charset="0"/>
                <a:ea typeface="Arial" charset="0"/>
                <a:sym typeface="Arial" charset="0"/>
              </a:defRPr>
            </a:lvl1pPr>
          </a:lstStyle>
          <a:p>
            <a:pPr lvl="0" eaLnBrk="1" latinLnBrk="1" hangingPunct="1"/>
            <a:r>
              <a:rPr lang="zh-CN" altLang="en-US" sz="3200" b="1" dirty="0"/>
              <a:t>Пример оформления отчета по </a:t>
            </a:r>
            <a:r>
              <a:rPr lang="ru-RU" altLang="zh-CN" sz="3200" b="1" dirty="0"/>
              <a:t/>
            </a:r>
            <a:br>
              <a:rPr lang="ru-RU" altLang="zh-CN" sz="3200" b="1" dirty="0"/>
            </a:br>
            <a:r>
              <a:rPr lang="zh-CN" altLang="en-US" sz="3200" b="1" dirty="0"/>
              <a:t>лабораторной работе </a:t>
            </a:r>
            <a:r>
              <a:rPr lang="en-US" altLang="en-US" sz="3200" b="1" dirty="0"/>
              <a:t>1</a:t>
            </a:r>
            <a:r>
              <a:rPr dirty="0"/>
              <a:t/>
            </a:r>
            <a:br>
              <a:rPr dirty="0"/>
            </a:br>
            <a:endParaRPr lang="zh-CN" altLang="en-US" sz="3200" b="1" dirty="0"/>
          </a:p>
        </p:txBody>
      </p:sp>
      <p:sp>
        <p:nvSpPr>
          <p:cNvPr id="1048604" name="Прямоугольник 104864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0" lvl="0" indent="0" eaLnBrk="1" latin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pic>
        <p:nvPicPr>
          <p:cNvPr id="2097154" name="Рисунок 2097151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9237" y="1268412"/>
            <a:ext cx="8229600" cy="489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Заголовок 1048646"/>
          <p:cNvSpPr>
            <a:spLocks noGrp="1"/>
          </p:cNvSpPr>
          <p:nvPr>
            <p:ph type="title"/>
          </p:nvPr>
        </p:nvSpPr>
        <p:spPr>
          <a:xfrm>
            <a:off x="323850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Arial" charset="0"/>
                <a:ea typeface="Arial" charset="0"/>
                <a:sym typeface="Arial" charset="0"/>
              </a:defRPr>
            </a:lvl1pPr>
          </a:lstStyle>
          <a:p>
            <a:pPr lvl="0" eaLnBrk="1" latinLnBrk="1" hangingPunct="1"/>
            <a:r>
              <a:rPr lang="zh-CN" altLang="en-US" b="1" dirty="0"/>
              <a:t>Постановка задачи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621768"/>
            <a:ext cx="8842857" cy="6203128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1475656" y="5755425"/>
            <a:ext cx="28803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555776" y="5755425"/>
            <a:ext cx="720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V="1">
            <a:off x="3059832" y="5743444"/>
            <a:ext cx="648072" cy="119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5796136" y="5157192"/>
            <a:ext cx="3347864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l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число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</a:rPr>
              <a:t>элементов, оставшихся после удаления в найденной     части массива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Заголовок 1048647"/>
          <p:cNvSpPr>
            <a:spLocks noGrp="1"/>
          </p:cNvSpPr>
          <p:nvPr>
            <p:ph type="title"/>
          </p:nvPr>
        </p:nvSpPr>
        <p:spPr>
          <a:xfrm>
            <a:off x="179512" y="-29715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Arial" charset="0"/>
                <a:ea typeface="Arial" charset="0"/>
                <a:sym typeface="Arial" charset="0"/>
              </a:defRPr>
            </a:lvl1pPr>
          </a:lstStyle>
          <a:p>
            <a:pPr lvl="0" eaLnBrk="1" latinLnBrk="1" hangingPunct="1"/>
            <a:r>
              <a:rPr lang="zh-CN" altLang="en-US" b="1" dirty="0"/>
              <a:t>Метод решения задачи</a:t>
            </a:r>
          </a:p>
        </p:txBody>
      </p:sp>
      <p:sp>
        <p:nvSpPr>
          <p:cNvPr id="1048588" name="Прямоугольник 104864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marL="0" lvl="0" indent="0" eaLnBrk="1" latin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714375"/>
            <a:ext cx="6105525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Заголовок 1048652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Arial" charset="0"/>
                <a:ea typeface="Arial" charset="0"/>
                <a:sym typeface="Arial" charset="0"/>
              </a:defRPr>
            </a:lvl1pPr>
          </a:lstStyle>
          <a:p>
            <a:pPr lvl="0" eaLnBrk="1" latinLnBrk="1" hangingPunct="1"/>
            <a:r>
              <a:rPr lang="zh-CN" altLang="en-US" b="1"/>
              <a:t>Внешняя спецификация</a:t>
            </a:r>
          </a:p>
        </p:txBody>
      </p:sp>
      <p:graphicFrame>
        <p:nvGraphicFramePr>
          <p:cNvPr id="4194304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081434"/>
              </p:ext>
            </p:extLst>
          </p:nvPr>
        </p:nvGraphicFramePr>
        <p:xfrm>
          <a:off x="457200" y="1772816"/>
          <a:ext cx="8363272" cy="10515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6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Лабораторная работа №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Задание 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Введите длину массива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от 1 до &lt;&lt;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lmax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&gt;&gt;: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8" name="Прямоугольник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2794595"/>
            <a:ext cx="8363272" cy="505523"/>
          </a:xfrm>
          <a:prstGeom prst="rect">
            <a:avLst/>
          </a:prstGeom>
          <a:blipFill>
            <a:blip r:embed="rId2"/>
            <a:stretch>
              <a:fillRect b="-16867"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graphicFrame>
        <p:nvGraphicFramePr>
          <p:cNvPr id="4194305" name="Таблица 3"/>
          <p:cNvGraphicFramePr>
            <a:graphicFrameLocks noGrp="1"/>
          </p:cNvGraphicFramePr>
          <p:nvPr/>
        </p:nvGraphicFramePr>
        <p:xfrm>
          <a:off x="462274" y="3307299"/>
          <a:ext cx="8363272" cy="1491488"/>
        </p:xfrm>
        <a:graphic>
          <a:graphicData uri="http://schemas.openxmlformats.org/drawingml/2006/table">
            <a:tbl>
              <a:tblPr firstRow="1" firstCol="1" bandRow="1"/>
              <a:tblGrid>
                <a:gridCol w="836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1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Введите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x, h, a: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&lt;x&gt; &lt;h&gt; &lt;a&gt;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Массив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из &lt;&lt;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&gt;&gt; элементов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&lt;&lt;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[1]&gt;&gt; &lt;&lt;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[2]&gt;&gt;…&lt;&lt;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]&gt;&gt;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Таблица 3"/>
          <p:cNvGraphicFramePr>
            <a:graphicFrameLocks noGrp="1"/>
          </p:cNvGraphicFramePr>
          <p:nvPr/>
        </p:nvGraphicFramePr>
        <p:xfrm>
          <a:off x="251520" y="260648"/>
          <a:ext cx="8568952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Задание 2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600" name="Прямоугольник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1520" y="594180"/>
            <a:ext cx="4572000" cy="1165768"/>
          </a:xfrm>
          <a:prstGeom prst="rect">
            <a:avLst/>
          </a:prstGeom>
          <a:blipFill>
            <a:blip r:embed="rId2"/>
            <a:stretch>
              <a:fillRect l="-1333" t="-2083" b="-8333"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sp>
        <p:nvSpPr>
          <p:cNvPr id="1048601" name="Прямоугольник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1520" y="1734118"/>
            <a:ext cx="6926383" cy="234602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graphicFrame>
        <p:nvGraphicFramePr>
          <p:cNvPr id="4194307" name="Таблица 6"/>
          <p:cNvGraphicFramePr>
            <a:graphicFrameLocks noGrp="1"/>
          </p:cNvGraphicFramePr>
          <p:nvPr/>
        </p:nvGraphicFramePr>
        <p:xfrm>
          <a:off x="252824" y="4080145"/>
          <a:ext cx="5934075" cy="3505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93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Задание 3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602" name="Прямоугольник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449" y="4400884"/>
            <a:ext cx="4572000" cy="1714572"/>
          </a:xfrm>
          <a:prstGeom prst="rect">
            <a:avLst/>
          </a:prstGeom>
          <a:blipFill>
            <a:blip r:embed="rId4"/>
            <a:stretch>
              <a:fillRect l="-1467" t="-1779"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000000"/>
      </a:accent5>
      <a:accent6>
        <a:srgbClr val="000000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DEF6F1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D9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008080"/>
        </a:accent3>
        <a:accent4>
          <a:srgbClr val="FFFFFF"/>
        </a:accent4>
        <a:accent5>
          <a:srgbClr val="000000"/>
        </a:accent5>
        <a:accent6>
          <a:srgbClr val="000000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800000"/>
        </a:accent3>
        <a:accent4>
          <a:srgbClr val="FFFFFF"/>
        </a:accent4>
        <a:accent5>
          <a:srgbClr val="000000"/>
        </a:accent5>
        <a:accent6>
          <a:srgbClr val="000000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000099"/>
        </a:accent3>
        <a:accent4>
          <a:srgbClr val="FFFFFF"/>
        </a:accent4>
        <a:accent5>
          <a:srgbClr val="000000"/>
        </a:accent5>
        <a:accent6>
          <a:srgbClr val="0000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000000"/>
        </a:accent3>
        <a:accent4>
          <a:srgbClr val="FFFFFF"/>
        </a:accent4>
        <a:accent5>
          <a:srgbClr val="000000"/>
        </a:accent5>
        <a:accent6>
          <a:srgbClr val="000000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686B5D"/>
        </a:accent3>
        <a:accent4>
          <a:srgbClr val="FFFFFF"/>
        </a:accent4>
        <a:accent5>
          <a:srgbClr val="000000"/>
        </a:accent5>
        <a:accent6>
          <a:srgbClr val="000000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666699"/>
        </a:accent3>
        <a:accent4>
          <a:srgbClr val="FFFFFF"/>
        </a:accent4>
        <a:accent5>
          <a:srgbClr val="000000"/>
        </a:accent5>
        <a:accent6>
          <a:srgbClr val="000000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523E26"/>
        </a:accent3>
        <a:accent4>
          <a:srgbClr val="FFFFFF"/>
        </a:accent4>
        <a:accent5>
          <a:srgbClr val="000000"/>
        </a:accent5>
        <a:accent6>
          <a:srgbClr val="000000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2047</Words>
  <Application>Microsoft Office PowerPoint</Application>
  <PresentationFormat>Экран (4:3)</PresentationFormat>
  <Paragraphs>155</Paragraphs>
  <Slides>16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宋体</vt:lpstr>
      <vt:lpstr>Arial</vt:lpstr>
      <vt:lpstr>Calibri</vt:lpstr>
      <vt:lpstr>Calibri Light</vt:lpstr>
      <vt:lpstr>Times New Roman</vt:lpstr>
      <vt:lpstr>Office 主题</vt:lpstr>
      <vt:lpstr>Презентация PowerPoint</vt:lpstr>
      <vt:lpstr>Где найти материалы курса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Требования к оформлению отчета </vt:lpstr>
      <vt:lpstr>Требования к оформлению отчета</vt:lpstr>
      <vt:lpstr>Презентация PowerPoint</vt:lpstr>
      <vt:lpstr>Пример оформления отчета по  лабораторной работе 1 </vt:lpstr>
      <vt:lpstr>Постановка задачи </vt:lpstr>
      <vt:lpstr>Метод решения задачи</vt:lpstr>
      <vt:lpstr>Внешняя спецификация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Админ</dc:creator>
  <cp:lastModifiedBy>Ерохина Елена Альфредовна</cp:lastModifiedBy>
  <cp:revision>77</cp:revision>
  <cp:lastPrinted>2022-09-07T06:01:46Z</cp:lastPrinted>
  <dcterms:created xsi:type="dcterms:W3CDTF">2012-09-12T13:23:50Z</dcterms:created>
  <dcterms:modified xsi:type="dcterms:W3CDTF">2025-09-11T18:00:13Z</dcterms:modified>
</cp:coreProperties>
</file>