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6" r:id="rId2"/>
    <p:sldId id="262" r:id="rId3"/>
    <p:sldId id="257" r:id="rId4"/>
    <p:sldId id="264" r:id="rId5"/>
    <p:sldId id="263" r:id="rId6"/>
    <p:sldId id="259" r:id="rId7"/>
    <p:sldId id="260" r:id="rId8"/>
    <p:sldId id="261" r:id="rId9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5B1BF-B504-4827-9C52-38301FBCC1DA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3BD06-CF2A-430F-A840-C5BE67BB73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678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40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80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16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62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20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755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36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79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28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86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6A3D4-DF06-45B1-AE39-0783AC8327F2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88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ualtikhonov@edu.hse.ru" TargetMode="External"/><Relationship Id="rId2" Type="http://schemas.openxmlformats.org/officeDocument/2006/relationships/hyperlink" Target="mailto:turbolight777@mail.r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eezharov@edu.hse.ru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548680"/>
            <a:ext cx="7772400" cy="1470025"/>
          </a:xfrm>
        </p:spPr>
        <p:txBody>
          <a:bodyPr>
            <a:noAutofit/>
          </a:bodyPr>
          <a:lstStyle/>
          <a:p>
            <a:r>
              <a:rPr lang="ru-RU" sz="3600" dirty="0"/>
              <a:t>Курсовая работа по дисциплине «Алгоритмизация и программирование»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2492896"/>
            <a:ext cx="6400800" cy="3744416"/>
          </a:xfrm>
        </p:spPr>
        <p:txBody>
          <a:bodyPr/>
          <a:lstStyle/>
          <a:p>
            <a:r>
              <a:rPr lang="ru-RU" dirty="0"/>
              <a:t>Это зачёт с оценкой, сдается в 4 модуле 20</a:t>
            </a:r>
            <a:r>
              <a:rPr lang="en-US" dirty="0"/>
              <a:t>2</a:t>
            </a:r>
            <a:r>
              <a:rPr lang="ru-RU" dirty="0"/>
              <a:t>5-26 учебного года.</a:t>
            </a:r>
          </a:p>
          <a:p>
            <a:r>
              <a:rPr lang="ru-RU" dirty="0"/>
              <a:t>Начало работы над проектом – 2 модуль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627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2800" dirty="0"/>
              <a:t>Распределение групп по преподавателям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689489"/>
              </p:ext>
            </p:extLst>
          </p:nvPr>
        </p:nvGraphicFramePr>
        <p:xfrm>
          <a:off x="390722" y="715699"/>
          <a:ext cx="8784976" cy="41376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915">
                  <a:extLst>
                    <a:ext uri="{9D8B030D-6E8A-4147-A177-3AD203B41FA5}">
                      <a16:colId xmlns:a16="http://schemas.microsoft.com/office/drawing/2014/main" val="3219123331"/>
                    </a:ext>
                  </a:extLst>
                </a:gridCol>
                <a:gridCol w="3792661">
                  <a:extLst>
                    <a:ext uri="{9D8B030D-6E8A-4147-A177-3AD203B41FA5}">
                      <a16:colId xmlns:a16="http://schemas.microsoft.com/office/drawing/2014/main" val="2477291603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87132048"/>
                    </a:ext>
                  </a:extLst>
                </a:gridCol>
              </a:tblGrid>
              <a:tr h="459743">
                <a:tc gridSpan="3"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Руководство курсовой работой по Алгоритмизации и программированию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37659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u="none" strike="noStrike" dirty="0">
                          <a:effectLst/>
                        </a:rPr>
                        <a:t>Группа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u="none" strike="noStrike" dirty="0">
                          <a:effectLst/>
                        </a:rPr>
                        <a:t>Преподаватель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u="none" strike="noStrike" dirty="0">
                          <a:effectLst/>
                        </a:rPr>
                        <a:t>Почта преподавателя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1994154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251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Ерохина Елена Альфредовна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Eroxinaea@yandex.ru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9546589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252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Ерохина Елена Альфредовна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Eroxinaea@yandex.ru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3057128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Волков Владимир Олегович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turbolight777@mail.ru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188313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Маликов Михаил Алексеевич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mmalikov@hse.ru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8911746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Тихонов Руслан Александрович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400" u="sng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/>
                        </a:rPr>
                        <a:t>rualtikhonov@edu.hse.ru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9804064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Жаров Евгений Евгеньевич </a:t>
                      </a:r>
                      <a:endParaRPr lang="ru-RU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800" u="sng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eezharov@edu.hse.ru</a:t>
                      </a:r>
                      <a:r>
                        <a:rPr lang="ru-RU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9723058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257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 err="1">
                          <a:effectLst/>
                        </a:rPr>
                        <a:t>Альбатша</a:t>
                      </a:r>
                      <a:r>
                        <a:rPr lang="ru-RU" sz="1800" u="none" strike="noStrike" dirty="0">
                          <a:effectLst/>
                        </a:rPr>
                        <a:t> Ахмад Мухаммад </a:t>
                      </a:r>
                      <a:r>
                        <a:rPr lang="ru-RU" sz="1800" u="none" strike="noStrike" dirty="0" err="1">
                          <a:effectLst/>
                        </a:rPr>
                        <a:t>Хусайн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aalbatsha@hse.ru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454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57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030806"/>
              </p:ext>
            </p:extLst>
          </p:nvPr>
        </p:nvGraphicFramePr>
        <p:xfrm>
          <a:off x="539552" y="245990"/>
          <a:ext cx="8136906" cy="6612010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№ 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Содержание </a:t>
                      </a:r>
                      <a:r>
                        <a:rPr lang="ru-RU" sz="1200" b="1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этапа</a:t>
                      </a: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Срок сдачи 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Вес 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Критерии оценивания этапа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207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Выбор темы курсовой работы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21</a:t>
                      </a: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.11 2025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0,5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Своевременный выбор темы и согласование ее с преподавателем -1 балл. При опоздании баллы снижаются.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03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Составление задания на курсовую работу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20.12 2025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Своевременное составление задания и согласование его с преподавателем -1 балл. При опоздании или несоблюдении шаблона, а также неверном заполнении задания пунктов баллы снижаются. 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497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Проект программы  - первая версия ПО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28.02 20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26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Оцениваются как соблюдение срока сдачи этапа, так и качество программного обеспечения. Должно быть выполнено не менее 50% требований, изложенных в задании на курсовую работу.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956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Проект документации  - первая версия отчета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30.03 202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Оцениваются как соблюдение срока сдачи этапа, так и качество документации. Должно быть написано не менее 50% текста отчета по курсовой работе.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547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Окончательная версия ПО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15.05 202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3,5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Оцениваются как соблюдение срока сдачи этапа, так и качество ПО. Должны быть соблюдены все требования, указанные в задании на выполнение курсовой работы.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819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Отчет и  оставление программной документации </a:t>
                      </a:r>
                      <a:endParaRPr lang="ru-RU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30.05 202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Оцениваются как соблюдение срока сдачи этапа, так и качество документации. Должны быть соблюдены все требования, указанные в задании на выполнение курсовой работы. При наличии в тексте отчета плагиата оценка снижается на 0,25 балла за каждые 5% недобросовестных заимствований. При наличии свыше 20% плагиата этап оценивается нулем.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748" marR="387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68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53559"/>
              </p:ext>
            </p:extLst>
          </p:nvPr>
        </p:nvGraphicFramePr>
        <p:xfrm>
          <a:off x="251519" y="116632"/>
          <a:ext cx="8424937" cy="6656631"/>
        </p:xfrm>
        <a:graphic>
          <a:graphicData uri="http://schemas.openxmlformats.org/drawingml/2006/table">
            <a:tbl>
              <a:tblPr/>
              <a:tblGrid>
                <a:gridCol w="414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148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№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Название этапа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Работы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Срок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Выбор темы курсовой работы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.11-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63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Составление задания на курсовую работу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Обоснование темы и ее описание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.11-29.11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Краткий обзор аналогов и источников литературы по теме</a:t>
                      </a:r>
                    </a:p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30.11-13.12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08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Окончательная версия ТЗ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14.12-20.12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1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Проект программы - первая версия ПО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Alpha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- прототип/эскиз GUI (если есть), основная структура ПО, ключевые функции и их описание.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21.12-15.01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41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Betta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-  реализация базового функционала, комментарии к основным функциям программы.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15.01-01.02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1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Gamma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-  предварительная версия ПО, реализован GUI, базовые и дополнительные функции.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01.02-28.02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45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Проект документации - первая версия отчета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Текстовое описание работы ПО, черновой вариант руководства пользователя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01.03-15.03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43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Черновой вариант отчета (описание аналогов, описание ПО, описание функционала, результаты тестирования ПО, производительность ПО и потребляемые ресурсы)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15.03-30.03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5127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Окончательная версия ПО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Демонстрация функционала программы. Представление аудитории (на усмотрение преподавателя).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1.04-31.05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5127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Отчет и составление программной документации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Защита отчета. Отчет должен быть оформлен по ГОСТ.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59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dirty="0"/>
              <a:t>Критерии оценивания курсовой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При несоблюдении любого из сроков, указанных в таблице, оценка за соответствующий пункт снижается. При опоздании на неделю оценка составит 0,6 от максимального балла, на 2 недели 0,4 от максимального балла за данный пункт. Исключение составляет случай документально подтвержденного заболевания.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При проверке работы программы и отчета оценивается соответствие пунктам задания, в которых описаны критерии проверки. В случае несоответствия (например, при тестировании окончательной версии программы обнаруживаются ошибки, некоторые пункты ответа отсутствуют или не соответствуют требованиям) снижение оценки на усмотрение преподавателя.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Оформление отчета описано в методических указаниях по выполнению МКР. Они размещены на сайте образовательной программы. Также краткие методические рекомендации размещены в </a:t>
            </a:r>
            <a:r>
              <a:rPr lang="en-US" sz="2000" dirty="0"/>
              <a:t>Smart </a:t>
            </a:r>
            <a:r>
              <a:rPr lang="en-US" sz="2000" dirty="0" err="1"/>
              <a:t>lms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9955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Критерии оценивания курсовой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В исключительных случаях студент может выбирать тему, предложенную другим преподавателем. Т.е. не тем, который ведёт курсовую работу в соответствующей группе. При этом надо согласовать свой выбор с обоими преподавателями - тем, кто ведёт группу студента и тем, у кого студент выбирает тему.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Тематика курсовых работ - на усмотрение преподавателя. Наличие аппаратной части проекта возможно, но не обязательно. 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Студентам разрешено выдвигать инициативные темы, согласовывая их с преподавателем.</a:t>
            </a:r>
            <a:endParaRPr lang="en-US" sz="2000" dirty="0"/>
          </a:p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Работа может выполняться командой студентов (до 3 человек). При этом в задании на разработку должны быть подробно описаны работы, выполняемый каждым участником команды. В отчете также необходимо указать вклад каждого участника в разработку. Оценка за работу выставляется каждому студенту индивидуально.</a:t>
            </a:r>
          </a:p>
        </p:txBody>
      </p:sp>
    </p:spTree>
    <p:extLst>
      <p:ext uri="{BB962C8B-B14F-4D97-AF65-F5344CB8AC3E}">
        <p14:creationId xmlns:p14="http://schemas.microsoft.com/office/powerpoint/2010/main" val="344554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Шаблон задания на курсовую работу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ru-RU" dirty="0"/>
              <a:t>Формулировка задания</a:t>
            </a:r>
            <a:endParaRPr lang="ru-RU" sz="2800" dirty="0"/>
          </a:p>
          <a:p>
            <a:pPr lvl="1"/>
            <a:r>
              <a:rPr lang="ru-RU" dirty="0"/>
              <a:t>Разработать программу, которая....</a:t>
            </a:r>
            <a:r>
              <a:rPr lang="ru-RU" i="1" dirty="0"/>
              <a:t>. </a:t>
            </a:r>
            <a:endParaRPr lang="ru-RU" sz="2400" dirty="0"/>
          </a:p>
          <a:p>
            <a:pPr lvl="1"/>
            <a:r>
              <a:rPr lang="ru-RU" dirty="0"/>
              <a:t>Требования к функциональным характеристикам:</a:t>
            </a:r>
            <a:endParaRPr lang="ru-RU" sz="2400" dirty="0"/>
          </a:p>
          <a:p>
            <a:pPr lvl="1"/>
            <a:r>
              <a:rPr lang="ru-RU" dirty="0"/>
              <a:t>Требования к надежности:</a:t>
            </a:r>
            <a:endParaRPr lang="ru-RU" sz="2400" dirty="0"/>
          </a:p>
          <a:p>
            <a:pPr lvl="1"/>
            <a:r>
              <a:rPr lang="ru-RU" dirty="0"/>
              <a:t>Требования к составу технических средств:</a:t>
            </a:r>
            <a:endParaRPr lang="ru-RU" sz="2400" dirty="0"/>
          </a:p>
          <a:p>
            <a:pPr lvl="1"/>
            <a:r>
              <a:rPr lang="ru-RU" dirty="0"/>
              <a:t>Требования к программной части:</a:t>
            </a:r>
            <a:r>
              <a:rPr lang="ru-RU" i="1" dirty="0"/>
              <a:t/>
            </a:r>
            <a:br>
              <a:rPr lang="ru-RU" i="1" dirty="0"/>
            </a:br>
            <a:endParaRPr lang="ru-RU" sz="2400" dirty="0"/>
          </a:p>
          <a:p>
            <a:pPr lvl="0"/>
            <a:r>
              <a:rPr lang="ru-RU" dirty="0"/>
              <a:t>Спецификация входных и выходных данных</a:t>
            </a:r>
            <a:endParaRPr lang="ru-RU" sz="2800" dirty="0"/>
          </a:p>
          <a:p>
            <a:pPr lvl="1"/>
            <a:r>
              <a:rPr lang="ru-RU" dirty="0"/>
              <a:t>Перечень и требования ко входным данным:</a:t>
            </a:r>
            <a:endParaRPr lang="ru-RU" sz="2400" dirty="0"/>
          </a:p>
          <a:p>
            <a:pPr lvl="1"/>
            <a:r>
              <a:rPr lang="ru-RU" dirty="0"/>
              <a:t>Перечень ограничений на входные данные с пояснениями:</a:t>
            </a:r>
            <a:endParaRPr lang="ru-RU" sz="2400" dirty="0"/>
          </a:p>
          <a:p>
            <a:pPr lvl="1"/>
            <a:r>
              <a:rPr lang="ru-RU" dirty="0"/>
              <a:t>Перечень и требования к выходным данным.</a:t>
            </a:r>
            <a:endParaRPr lang="ru-RU" sz="2400" dirty="0"/>
          </a:p>
          <a:p>
            <a:pPr lvl="0"/>
            <a:r>
              <a:rPr lang="ru-RU" dirty="0"/>
              <a:t>Пояснительная записка будет включать следующие документы: (документы подшиваются в отчет - пока просто перечислить, что будете разрабатывать, например):</a:t>
            </a:r>
            <a:endParaRPr lang="ru-RU" sz="2800" dirty="0"/>
          </a:p>
          <a:p>
            <a:pPr lvl="1"/>
            <a:r>
              <a:rPr lang="ru-RU" dirty="0"/>
              <a:t> Описание алгоритма решения задачи,</a:t>
            </a:r>
            <a:endParaRPr lang="ru-RU" sz="2400" dirty="0"/>
          </a:p>
          <a:p>
            <a:pPr lvl="1"/>
            <a:r>
              <a:rPr lang="ru-RU" dirty="0"/>
              <a:t> Описание программы,</a:t>
            </a:r>
            <a:endParaRPr lang="ru-RU" sz="2400" dirty="0"/>
          </a:p>
          <a:p>
            <a:pPr lvl="1"/>
            <a:r>
              <a:rPr lang="ru-RU" dirty="0"/>
              <a:t> Тестирование</a:t>
            </a:r>
            <a:endParaRPr lang="ru-RU" sz="2400" dirty="0"/>
          </a:p>
          <a:p>
            <a:pPr lvl="1"/>
            <a:r>
              <a:rPr lang="ru-RU" dirty="0"/>
              <a:t> Руководство пользователя.</a:t>
            </a:r>
            <a:endParaRPr lang="ru-RU" sz="2400" dirty="0"/>
          </a:p>
          <a:p>
            <a:pPr lvl="0"/>
            <a:r>
              <a:rPr lang="ru-RU"/>
              <a:t>Этапы и сроки выполнения работ</a:t>
            </a:r>
            <a:endParaRPr lang="ru-RU" sz="280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688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оценки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12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</a:t>
            </a:r>
            <a:r>
              <a:rPr lang="ru-RU" baseline="-25000" dirty="0"/>
              <a:t>ИТОГ</a:t>
            </a:r>
            <a:r>
              <a:rPr lang="ru-RU" dirty="0"/>
              <a:t>=0,05×О</a:t>
            </a:r>
            <a:r>
              <a:rPr lang="ru-RU" baseline="-25000" dirty="0"/>
              <a:t>ВЫБОР </a:t>
            </a:r>
            <a:r>
              <a:rPr lang="ru-RU" dirty="0"/>
              <a:t>+ 0,1×О</a:t>
            </a:r>
            <a:r>
              <a:rPr lang="ru-RU" baseline="-25000" dirty="0"/>
              <a:t>задание </a:t>
            </a:r>
            <a:r>
              <a:rPr lang="ru-RU" dirty="0"/>
              <a:t>+	0,2×О</a:t>
            </a:r>
            <a:r>
              <a:rPr lang="ru-RU" baseline="-25000" dirty="0"/>
              <a:t>ПО1 </a:t>
            </a:r>
            <a:r>
              <a:rPr lang="ru-RU" dirty="0"/>
              <a:t>+ 0,1×О</a:t>
            </a:r>
            <a:r>
              <a:rPr lang="ru-RU" baseline="-25000" dirty="0"/>
              <a:t>ДОК	</a:t>
            </a:r>
            <a:r>
              <a:rPr lang="ru-RU" dirty="0"/>
              <a:t>+ 0,35×О</a:t>
            </a:r>
            <a:r>
              <a:rPr lang="ru-RU" baseline="-25000" dirty="0"/>
              <a:t>ПО </a:t>
            </a:r>
            <a:r>
              <a:rPr lang="ru-RU" dirty="0"/>
              <a:t>+ 0,2×О</a:t>
            </a:r>
            <a:r>
              <a:rPr lang="ru-RU" baseline="-25000" dirty="0"/>
              <a:t>ОТЧЁТ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11560" y="2996952"/>
            <a:ext cx="8229600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Прошу старост групп связаться по почте с руководителями проектов в ваших группах и начать работу.</a:t>
            </a:r>
          </a:p>
        </p:txBody>
      </p:sp>
    </p:spTree>
    <p:extLst>
      <p:ext uri="{BB962C8B-B14F-4D97-AF65-F5344CB8AC3E}">
        <p14:creationId xmlns:p14="http://schemas.microsoft.com/office/powerpoint/2010/main" val="12348733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895</Words>
  <Application>Microsoft Office PowerPoint</Application>
  <PresentationFormat>Экран (4:3)</PresentationFormat>
  <Paragraphs>131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Тема Office</vt:lpstr>
      <vt:lpstr>Курсовая работа по дисциплине «Алгоритмизация и программирование»</vt:lpstr>
      <vt:lpstr>Распределение групп по преподавателям</vt:lpstr>
      <vt:lpstr>Презентация PowerPoint</vt:lpstr>
      <vt:lpstr>Презентация PowerPoint</vt:lpstr>
      <vt:lpstr>Критерии оценивания курсовой работы</vt:lpstr>
      <vt:lpstr>Критерии оценивания курсовой работы</vt:lpstr>
      <vt:lpstr>Шаблон задания на курсовую работу </vt:lpstr>
      <vt:lpstr>Вычисление оценки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дисциплине «Алгоритмизация и программирование»</dc:title>
  <dc:creator>lab_1</dc:creator>
  <cp:lastModifiedBy>Ерохина Елена Альфредовна</cp:lastModifiedBy>
  <cp:revision>58</cp:revision>
  <cp:lastPrinted>2025-11-05T07:26:15Z</cp:lastPrinted>
  <dcterms:created xsi:type="dcterms:W3CDTF">2018-10-16T11:07:20Z</dcterms:created>
  <dcterms:modified xsi:type="dcterms:W3CDTF">2025-11-05T07:28:22Z</dcterms:modified>
</cp:coreProperties>
</file>