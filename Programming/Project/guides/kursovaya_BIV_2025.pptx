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4" r:id="rId4"/>
    <p:sldId id="263" r:id="rId5"/>
    <p:sldId id="259" r:id="rId6"/>
    <p:sldId id="261" r:id="rId7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269A0-FC38-428B-A4BC-3BA7816E33B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869E4-D90F-4BA8-A22D-CED2FF02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869E4-D90F-4BA8-A22D-CED2FF0219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26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40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80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16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62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20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755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36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79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28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86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6A3D4-DF06-45B1-AE39-0783AC8327F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35B1F-9D08-4879-AB40-8B6D88A94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88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amalikov@edu.hse.ru" TargetMode="External"/><Relationship Id="rId2" Type="http://schemas.openxmlformats.org/officeDocument/2006/relationships/hyperlink" Target="mailto:vovolkov@edu.hse.r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eezharov@edu.hse.ru" TargetMode="External"/><Relationship Id="rId4" Type="http://schemas.openxmlformats.org/officeDocument/2006/relationships/hyperlink" Target="mailto:rualtikhonov@edu.hse.ru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548680"/>
            <a:ext cx="7772400" cy="1470025"/>
          </a:xfrm>
        </p:spPr>
        <p:txBody>
          <a:bodyPr>
            <a:noAutofit/>
          </a:bodyPr>
          <a:lstStyle/>
          <a:p>
            <a:r>
              <a:rPr lang="ru-RU" sz="3600" dirty="0"/>
              <a:t>Курсовая работа по дисциплине «Алгоритмизация и программирование»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03648" y="2492896"/>
            <a:ext cx="6400800" cy="3744416"/>
          </a:xfrm>
        </p:spPr>
        <p:txBody>
          <a:bodyPr/>
          <a:lstStyle/>
          <a:p>
            <a:r>
              <a:rPr lang="ru-RU" dirty="0"/>
              <a:t>Это зачёт с оценкой, сдается в 4 модуле 20</a:t>
            </a:r>
            <a:r>
              <a:rPr lang="en-US" dirty="0"/>
              <a:t>2</a:t>
            </a:r>
            <a:r>
              <a:rPr lang="ru-RU" dirty="0"/>
              <a:t>5-26 учебного года.</a:t>
            </a:r>
          </a:p>
          <a:p>
            <a:r>
              <a:rPr lang="ru-RU" dirty="0"/>
              <a:t>Начало работы над проектом – 2 модуль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627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2800" dirty="0"/>
              <a:t>Распределение групп по преподавателям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4802854"/>
              </p:ext>
            </p:extLst>
          </p:nvPr>
        </p:nvGraphicFramePr>
        <p:xfrm>
          <a:off x="390722" y="715699"/>
          <a:ext cx="8784976" cy="46088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915">
                  <a:extLst>
                    <a:ext uri="{9D8B030D-6E8A-4147-A177-3AD203B41FA5}">
                      <a16:colId xmlns:a16="http://schemas.microsoft.com/office/drawing/2014/main" val="3219123331"/>
                    </a:ext>
                  </a:extLst>
                </a:gridCol>
                <a:gridCol w="3792661">
                  <a:extLst>
                    <a:ext uri="{9D8B030D-6E8A-4147-A177-3AD203B41FA5}">
                      <a16:colId xmlns:a16="http://schemas.microsoft.com/office/drawing/2014/main" val="2477291603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87132048"/>
                    </a:ext>
                  </a:extLst>
                </a:gridCol>
              </a:tblGrid>
              <a:tr h="459743">
                <a:tc gridSpan="3"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Руководство курсовой работой по Алгоритмизации и программированию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37659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u="none" strike="noStrike" dirty="0">
                          <a:effectLst/>
                        </a:rPr>
                        <a:t>Группа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u="none" strike="noStrike" dirty="0">
                          <a:effectLst/>
                        </a:rPr>
                        <a:t>Преподаватель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u="none" strike="noStrike" dirty="0">
                          <a:effectLst/>
                        </a:rPr>
                        <a:t>Почта преподавателя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1994154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251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Ерохина Елена Альфредовна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Eroxinaea@yandex.ru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9546589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252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Ерохина Елена Альфредовна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Eroxinaea@yandex.ru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3057128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endParaRPr lang="ru-RU" sz="1800" u="none" strike="noStrike" dirty="0" smtClean="0">
                        <a:effectLst/>
                      </a:endParaRPr>
                    </a:p>
                    <a:p>
                      <a:pPr algn="l" fontAlgn="b"/>
                      <a:endParaRPr lang="ru-RU" sz="1800" u="none" strike="noStrike" dirty="0" smtClean="0">
                        <a:effectLst/>
                      </a:endParaRPr>
                    </a:p>
                    <a:p>
                      <a:pPr algn="l" fontAlgn="b"/>
                      <a:r>
                        <a:rPr lang="ru-RU" sz="1800" u="none" strike="noStrike" dirty="0" smtClean="0">
                          <a:effectLst/>
                        </a:rPr>
                        <a:t>БИВ </a:t>
                      </a:r>
                      <a:r>
                        <a:rPr lang="ru-RU" sz="1800" u="none" strike="noStrike" dirty="0">
                          <a:effectLst/>
                        </a:rPr>
                        <a:t>253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Волков Владимир Олегович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VK: @green5175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vovolkov@edu.hse.ru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188313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endParaRPr lang="ru-RU" sz="1800" u="none" strike="noStrike" dirty="0" smtClean="0">
                        <a:effectLst/>
                      </a:endParaRPr>
                    </a:p>
                    <a:p>
                      <a:pPr algn="l" fontAlgn="b"/>
                      <a:r>
                        <a:rPr lang="ru-RU" sz="1800" u="none" strike="noStrike" dirty="0" smtClean="0">
                          <a:effectLst/>
                        </a:rPr>
                        <a:t>БИВ </a:t>
                      </a:r>
                      <a:r>
                        <a:rPr lang="ru-RU" sz="1800" u="none" strike="noStrike" dirty="0">
                          <a:effectLst/>
                        </a:rPr>
                        <a:t>254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Маликов Михаил Алексеевич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mamalikov@edu.hse.ru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8911746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Тихонов Руслан Александрович </a:t>
                      </a:r>
                      <a:endParaRPr lang="ru-RU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400" u="sng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4"/>
                        </a:rPr>
                        <a:t>rualtikhonov@edu.hse.ru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9804064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Жаров Евгений Евгеньевич </a:t>
                      </a:r>
                      <a:endParaRPr lang="ru-RU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eezharov@edu.hse.ru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9723058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БИВ 257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 err="1">
                          <a:effectLst/>
                        </a:rPr>
                        <a:t>Альбатша</a:t>
                      </a:r>
                      <a:r>
                        <a:rPr lang="ru-RU" sz="1800" u="none" strike="noStrike" dirty="0">
                          <a:effectLst/>
                        </a:rPr>
                        <a:t> Ахмад Мухаммад </a:t>
                      </a:r>
                      <a:r>
                        <a:rPr lang="ru-RU" sz="1800" u="none" strike="noStrike" dirty="0" err="1">
                          <a:effectLst/>
                        </a:rPr>
                        <a:t>Хусайн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aalbatsha@hse.ru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4548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57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7305859"/>
              </p:ext>
            </p:extLst>
          </p:nvPr>
        </p:nvGraphicFramePr>
        <p:xfrm>
          <a:off x="35496" y="44627"/>
          <a:ext cx="9108503" cy="6782336"/>
        </p:xfrm>
        <a:graphic>
          <a:graphicData uri="http://schemas.openxmlformats.org/drawingml/2006/table">
            <a:tbl>
              <a:tblPr/>
              <a:tblGrid>
                <a:gridCol w="396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1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567">
                  <a:extLst>
                    <a:ext uri="{9D8B030D-6E8A-4147-A177-3AD203B41FA5}">
                      <a16:colId xmlns:a16="http://schemas.microsoft.com/office/drawing/2014/main" val="1602002098"/>
                    </a:ext>
                  </a:extLst>
                </a:gridCol>
              </a:tblGrid>
              <a:tr h="50172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№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Название этапа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Работы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Срок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Вес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58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Выбор темы курсовой работы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12.11-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69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Составление задания на курсовую работу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Обоснование темы и ее описание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.11-29.11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35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Краткий обзор аналогов и источников литературы по теме</a:t>
                      </a:r>
                    </a:p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30.11-13.12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5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Окончательная версия ТЗ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14.12-20.12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4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Проект программы - первая версия ПО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Alpha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- прототип/эскиз GUI (если есть), основная структура ПО, ключевые функции и их описание.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21.12-15.01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41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Betta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-  реализация базового функционала, комментарии к основным функциям программы.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15.01-01.02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41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Gamma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-  предварительная версия ПО, реализован GUI, базовые и дополнительные функции.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01.02-28.02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05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Проект документации - первая версия отчета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Текстовое описание работы ПО, черновой вариант руководства пользователя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01.03-15.03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3104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Черновой вариант отчета (описание аналогов, описание ПО, описание функционала, результаты тестирования ПО, производительность ПО и потребляемые ресурсы)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15.03-30.03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939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Окончательная версия ПО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Демонстрация функционала программы. Представление аудитории (на усмотрение преподавателя).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1.04-31.05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Отчет и составление программной документации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Защита отчета. Отчет должен быть оформлен по ГОСТ.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ru-RU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59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ru-RU" dirty="0"/>
              <a:t>Критерии оценивания курсовой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000" dirty="0"/>
              <a:t>При несоблюдении любого из сроков, указанных в таблице, оценка за соответствующий пункт снижается. При опоздании на неделю оценка составит 0,6 от максимального балла, на 2 недели 0,4 от максимального балла за данный пункт. Исключение составляет случай документально подтвержденного заболевания.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При проверке работы программы и отчета оценивается соответствие пунктам задания, в которых описаны критерии проверки. В случае несоответствия (например, при тестировании окончательной версии программы обнаруживаются ошибки, некоторые пункты ответа отсутствуют или не соответствуют требованиям) снижение оценки на усмотрение преподавателя.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Оформление отчета описано в </a:t>
            </a:r>
            <a:r>
              <a:rPr lang="ru-RU" sz="2000" dirty="0" smtClean="0"/>
              <a:t>методических </a:t>
            </a:r>
            <a:r>
              <a:rPr lang="ru-RU" sz="2000" dirty="0"/>
              <a:t>указаниях по выполнению </a:t>
            </a:r>
            <a:r>
              <a:rPr lang="ru-RU" sz="2000" dirty="0" smtClean="0"/>
              <a:t>МКР. Они размещены на сайте образовательной </a:t>
            </a:r>
            <a:r>
              <a:rPr lang="ru-RU" sz="2000" dirty="0"/>
              <a:t>программы. Также краткие методические рекомендации размещены в </a:t>
            </a:r>
            <a:r>
              <a:rPr lang="en-US" sz="2000" dirty="0"/>
              <a:t>Smart </a:t>
            </a:r>
            <a:r>
              <a:rPr lang="en-US" sz="2000" dirty="0" err="1"/>
              <a:t>lms</a:t>
            </a:r>
            <a:r>
              <a:rPr lang="en-US" sz="2000" dirty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9955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Критерии оценивания курсовой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ru-RU" sz="2000" dirty="0"/>
              <a:t>В исключительных случаях студент может выбирать тему, предложенную другим преподавателем. Т.е. не тем, который ведёт курсовую работу в соответствующей группе. При этом надо согласовать свой выбор с обоими преподавателями - тем, кто ведёт группу студента и тем, у кого студент выбирает тему.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sz="2000" dirty="0"/>
              <a:t>Тематика курсовых работ - на усмотрение преподавателя. Наличие аппаратной части проекта возможно, но не обязательно. 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sz="2000" dirty="0"/>
              <a:t>Студентам разрешено выдвигать инициативные темы, согласовывая их с преподавателем.</a:t>
            </a:r>
            <a:endParaRPr lang="en-US" sz="2000" dirty="0"/>
          </a:p>
          <a:p>
            <a:pPr marL="514350" indent="-514350">
              <a:buFont typeface="+mj-lt"/>
              <a:buAutoNum type="arabicPeriod" startAt="4"/>
            </a:pPr>
            <a:r>
              <a:rPr lang="ru-RU" sz="2000" dirty="0"/>
              <a:t>Работа может выполняться командой студентов (до 3 человек). При этом в задании на разработку должны быть подробно описаны работы, выполняемый каждым участником команды. В отчете также необходимо указать вклад каждого участника в разработку. Оценка за работу выставляется каждому студенту индивидуально.</a:t>
            </a:r>
          </a:p>
        </p:txBody>
      </p:sp>
    </p:spTree>
    <p:extLst>
      <p:ext uri="{BB962C8B-B14F-4D97-AF65-F5344CB8AC3E}">
        <p14:creationId xmlns:p14="http://schemas.microsoft.com/office/powerpoint/2010/main" val="344554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оценки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12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</a:t>
            </a:r>
            <a:r>
              <a:rPr lang="ru-RU" baseline="-25000" dirty="0"/>
              <a:t>ИТОГ</a:t>
            </a:r>
            <a:r>
              <a:rPr lang="ru-RU" dirty="0"/>
              <a:t>=0,05×О</a:t>
            </a:r>
            <a:r>
              <a:rPr lang="ru-RU" baseline="-25000" dirty="0"/>
              <a:t>ВЫБОР </a:t>
            </a:r>
            <a:r>
              <a:rPr lang="ru-RU" dirty="0"/>
              <a:t>+ 0,1×О</a:t>
            </a:r>
            <a:r>
              <a:rPr lang="ru-RU" baseline="-25000" dirty="0"/>
              <a:t>задание </a:t>
            </a:r>
            <a:r>
              <a:rPr lang="ru-RU" dirty="0"/>
              <a:t>+	0,2×О</a:t>
            </a:r>
            <a:r>
              <a:rPr lang="ru-RU" baseline="-25000" dirty="0"/>
              <a:t>ПО1 </a:t>
            </a:r>
            <a:r>
              <a:rPr lang="ru-RU" dirty="0"/>
              <a:t>+ 0,1×О</a:t>
            </a:r>
            <a:r>
              <a:rPr lang="ru-RU" baseline="-25000" dirty="0"/>
              <a:t>ДОК	</a:t>
            </a:r>
            <a:r>
              <a:rPr lang="ru-RU" dirty="0"/>
              <a:t>+ 0,35×О</a:t>
            </a:r>
            <a:r>
              <a:rPr lang="ru-RU" baseline="-25000" dirty="0"/>
              <a:t>ПО </a:t>
            </a:r>
            <a:r>
              <a:rPr lang="ru-RU" dirty="0"/>
              <a:t>+ 0,2×О</a:t>
            </a:r>
            <a:r>
              <a:rPr lang="ru-RU" baseline="-25000" dirty="0"/>
              <a:t>ОТЧЁТ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87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472</Words>
  <Application>Microsoft Office PowerPoint</Application>
  <PresentationFormat>Экран (4:3)</PresentationFormat>
  <Paragraphs>95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Тема Office</vt:lpstr>
      <vt:lpstr>Курсовая работа по дисциплине «Алгоритмизация и программирование»</vt:lpstr>
      <vt:lpstr>Распределение групп по преподавателям</vt:lpstr>
      <vt:lpstr>Презентация PowerPoint</vt:lpstr>
      <vt:lpstr>Критерии оценивания курсовой работы</vt:lpstr>
      <vt:lpstr>Критерии оценивания курсовой работы</vt:lpstr>
      <vt:lpstr>Вычисление оценки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по дисциплине «Алгоритмизация и программирование»</dc:title>
  <dc:creator>lab_1</dc:creator>
  <cp:lastModifiedBy>User-5260</cp:lastModifiedBy>
  <cp:revision>65</cp:revision>
  <cp:lastPrinted>2023-11-02T13:57:45Z</cp:lastPrinted>
  <dcterms:created xsi:type="dcterms:W3CDTF">2018-10-16T11:07:20Z</dcterms:created>
  <dcterms:modified xsi:type="dcterms:W3CDTF">2025-11-12T18:44:40Z</dcterms:modified>
</cp:coreProperties>
</file>